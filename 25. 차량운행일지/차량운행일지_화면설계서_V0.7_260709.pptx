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448" r:id="rId4"/>
    <p:sldId id="445" r:id="rId5"/>
    <p:sldId id="447" r:id="rId6"/>
    <p:sldId id="446" r:id="rId7"/>
    <p:sldId id="427" r:id="rId8"/>
    <p:sldId id="426" r:id="rId9"/>
    <p:sldId id="431" r:id="rId10"/>
    <p:sldId id="432" r:id="rId11"/>
    <p:sldId id="421" r:id="rId12"/>
    <p:sldId id="424" r:id="rId13"/>
    <p:sldId id="433" r:id="rId14"/>
    <p:sldId id="436" r:id="rId15"/>
    <p:sldId id="442" r:id="rId16"/>
    <p:sldId id="437" r:id="rId17"/>
    <p:sldId id="438" r:id="rId18"/>
    <p:sldId id="443" r:id="rId19"/>
    <p:sldId id="439" r:id="rId20"/>
    <p:sldId id="422" r:id="rId21"/>
    <p:sldId id="425" r:id="rId22"/>
    <p:sldId id="435" r:id="rId23"/>
    <p:sldId id="428" r:id="rId24"/>
    <p:sldId id="449" r:id="rId25"/>
    <p:sldId id="450" r:id="rId2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AFF4752-F253-43BA-873D-F56AF102952A}">
          <p14:sldIdLst>
            <p14:sldId id="256"/>
            <p14:sldId id="257"/>
            <p14:sldId id="448"/>
            <p14:sldId id="445"/>
            <p14:sldId id="447"/>
            <p14:sldId id="446"/>
          </p14:sldIdLst>
        </p14:section>
        <p14:section name="차량운행정보관리" id="{4C72029E-FCA0-439F-8B37-1248A7511A6A}">
          <p14:sldIdLst>
            <p14:sldId id="427"/>
            <p14:sldId id="426"/>
            <p14:sldId id="431"/>
            <p14:sldId id="432"/>
          </p14:sldIdLst>
        </p14:section>
        <p14:section name="차량이용자_차량 설정" id="{E66B13A2-E147-4557-B247-8FF6F0AFD8BC}">
          <p14:sldIdLst>
            <p14:sldId id="421"/>
            <p14:sldId id="424"/>
            <p14:sldId id="433"/>
            <p14:sldId id="436"/>
          </p14:sldIdLst>
        </p14:section>
        <p14:section name="차량 정비" id="{581445B7-7855-4BE2-94FE-23017B77154E}">
          <p14:sldIdLst>
            <p14:sldId id="442"/>
            <p14:sldId id="437"/>
            <p14:sldId id="438"/>
            <p14:sldId id="443"/>
            <p14:sldId id="439"/>
          </p14:sldIdLst>
        </p14:section>
        <p14:section name="차량관리자 설정" id="{F34077C9-86B6-4467-849D-563F62CF7D08}">
          <p14:sldIdLst>
            <p14:sldId id="422"/>
          </p14:sldIdLst>
        </p14:section>
        <p14:section name="다운로드 / 업로드 양식" id="{AF85236E-E4F5-4555-A03A-231F9E1F361E}">
          <p14:sldIdLst>
            <p14:sldId id="425"/>
            <p14:sldId id="435"/>
            <p14:sldId id="428"/>
            <p14:sldId id="449"/>
            <p14:sldId id="4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5122" autoAdjust="0"/>
  </p:normalViewPr>
  <p:slideViewPr>
    <p:cSldViewPr snapToGrid="0">
      <p:cViewPr>
        <p:scale>
          <a:sx n="100" d="100"/>
          <a:sy n="100" d="100"/>
        </p:scale>
        <p:origin x="175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F8CA3-3C1C-4C3F-B335-742BEBBD898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37843-2C41-4524-BC3E-B3B90F872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47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72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5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23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83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5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9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319875"/>
              </p:ext>
            </p:extLst>
          </p:nvPr>
        </p:nvGraphicFramePr>
        <p:xfrm>
          <a:off x="0" y="0"/>
          <a:ext cx="9906001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37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페이지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페이지코드</a:t>
                      </a: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T="72000" marB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915318" y="275521"/>
            <a:ext cx="2366045" cy="237470"/>
          </a:xfrm>
        </p:spPr>
        <p:txBody>
          <a:bodyPr>
            <a:normAutofit/>
          </a:bodyPr>
          <a:lstStyle>
            <a:lvl1pPr algn="l">
              <a:defRPr sz="800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7588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75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9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13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79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151D8-BEFC-402D-9643-7F134B6A1015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6E187-2326-406B-870C-22B4D08C2A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16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4.png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408980" y="2110288"/>
            <a:ext cx="9088041" cy="1620771"/>
          </a:xfrm>
        </p:spPr>
        <p:txBody>
          <a:bodyPr anchor="ctr">
            <a:normAutofit/>
          </a:bodyPr>
          <a:lstStyle/>
          <a:p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ko-KR" alt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화면설계서</a:t>
            </a:r>
            <a:endParaRPr lang="ko-KR" altLang="en-US" sz="44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2440" y="5161625"/>
            <a:ext cx="128112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Ver 0.7</a:t>
            </a:r>
          </a:p>
          <a:p>
            <a:pPr algn="ctr"/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2026.07.08</a:t>
            </a:r>
          </a:p>
        </p:txBody>
      </p:sp>
    </p:spTree>
    <p:extLst>
      <p:ext uri="{BB962C8B-B14F-4D97-AF65-F5344CB8AC3E}">
        <p14:creationId xmlns:p14="http://schemas.microsoft.com/office/powerpoint/2010/main" val="156768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216375" y="99345"/>
            <a:ext cx="9622632" cy="381536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개정 이력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66937"/>
              </p:ext>
            </p:extLst>
          </p:nvPr>
        </p:nvGraphicFramePr>
        <p:xfrm>
          <a:off x="305347" y="684288"/>
          <a:ext cx="9295854" cy="2829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버전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일자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이력 사항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작성자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0.1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2022-06-10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초안 작성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2022-06-13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차량등록 시 용도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업무용으로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에 저장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별도 용도 필요 시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로 수정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차량관리자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설정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– admin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으로 위치 변경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차량관리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–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 정보 수정 시 차량번호 수정불가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2022-06-17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차량운행일지 등록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수정 페이지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팝업 추가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차량운행정보관리 페이지의 권한에 따른 데이터 영역의 데이터 노출 정책 추가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차량운행정보 등록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수정 시 </a:t>
                      </a:r>
                      <a:r>
                        <a:rPr lang="ko-KR" altLang="en-US" sz="900" b="0" kern="12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출발자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Km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가 도착지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Km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보다 클 수 없는 알림 팝업 추가 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차량운행정보 등록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수정 시 거리는 숫자만 입력 가능 알림  팝업 추가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차량관리자설정 페이지의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LNB 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위치 변경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서비스설정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900" b="0" kern="12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차량관리자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설정</a:t>
                      </a: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2022-06-20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운행일지 </a:t>
                      </a:r>
                      <a:r>
                        <a:rPr lang="ko-KR" altLang="en-US" sz="900" b="0" kern="120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대량등록</a:t>
                      </a: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양식 수정 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2022-07-26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챠량관리의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차고지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정보 입력박스 삭제</a:t>
                      </a:r>
                      <a:endParaRPr lang="en-US" altLang="ko-KR" sz="9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챠량관리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차량이력관리 버튼 생성 및 팝업 추가</a:t>
                      </a:r>
                      <a:endParaRPr lang="en-US" altLang="ko-KR" sz="900" b="1" kern="12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챠량관리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9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등록 시 차량번호 수정불가로 팝업 내용 수정 </a:t>
                      </a:r>
                      <a:endParaRPr lang="en-US" altLang="ko-KR" sz="900" b="1" kern="12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0.6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2026-06-26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차량정비 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&gt; 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정비내역 추가 화면 수정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운행거리 자동 등록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(input box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제거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운행거리 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-&gt; 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주행거리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팝업 안내 문구 수정</a:t>
                      </a:r>
                      <a:r>
                        <a:rPr lang="en-US" altLang="ko-KR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969486"/>
                  </a:ext>
                </a:extLst>
              </a:tr>
              <a:tr h="140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0.7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2026-07-08</a:t>
                      </a:r>
                      <a:endParaRPr lang="ko-KR" altLang="en-US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1" kern="12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일부 문구 수정 </a:t>
                      </a:r>
                      <a:endParaRPr lang="en-US" altLang="ko-KR" sz="900" b="1" kern="12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8425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김현승</a:t>
                      </a:r>
                      <a:endParaRPr lang="en-US" altLang="ko-KR" sz="900" b="0" kern="12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8694" marR="98694" marT="39692" marB="39692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08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107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6D007-13DD-5590-9B72-1B27A9C92B5E}"/>
              </a:ext>
            </a:extLst>
          </p:cNvPr>
          <p:cNvSpPr txBox="1"/>
          <p:nvPr/>
        </p:nvSpPr>
        <p:spPr>
          <a:xfrm>
            <a:off x="1453243" y="1665515"/>
            <a:ext cx="174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전사</a:t>
            </a:r>
            <a:r>
              <a:rPr lang="en-US" altLang="ko-KR" dirty="0"/>
              <a:t> </a:t>
            </a:r>
            <a:r>
              <a:rPr lang="ko-KR" altLang="en-US" dirty="0"/>
              <a:t>관리자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093A8-5CDF-5DD6-C415-6A7BFC449F8B}"/>
              </a:ext>
            </a:extLst>
          </p:cNvPr>
          <p:cNvSpPr txBox="1"/>
          <p:nvPr/>
        </p:nvSpPr>
        <p:spPr>
          <a:xfrm>
            <a:off x="1159328" y="2396797"/>
            <a:ext cx="233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차량관리자</a:t>
            </a:r>
            <a:r>
              <a:rPr lang="en-US" altLang="ko-KR" dirty="0"/>
              <a:t>  </a:t>
            </a:r>
            <a:r>
              <a:rPr lang="ko-KR" altLang="en-US" dirty="0"/>
              <a:t>지정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0A55D2C-7240-CDAE-8166-76D223A1EEB9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2326821" y="2034847"/>
            <a:ext cx="1" cy="361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6BAC03-0DC0-C075-135A-55A51E6FCFED}"/>
              </a:ext>
            </a:extLst>
          </p:cNvPr>
          <p:cNvSpPr txBox="1"/>
          <p:nvPr/>
        </p:nvSpPr>
        <p:spPr>
          <a:xfrm>
            <a:off x="1159328" y="3128079"/>
            <a:ext cx="2334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차량</a:t>
            </a:r>
            <a:r>
              <a:rPr lang="en-US" altLang="ko-KR" dirty="0"/>
              <a:t> </a:t>
            </a:r>
            <a:r>
              <a:rPr lang="ko-KR" altLang="en-US" dirty="0" err="1"/>
              <a:t>운행자</a:t>
            </a:r>
            <a:r>
              <a:rPr lang="en-US" altLang="ko-KR" dirty="0"/>
              <a:t> </a:t>
            </a:r>
            <a:r>
              <a:rPr lang="ko-KR" altLang="en-US" dirty="0"/>
              <a:t>지정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234A035-63F4-6682-DFC3-3F6F7C11A5A3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326821" y="2766129"/>
            <a:ext cx="0" cy="361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D56068-89D9-57E0-04FF-14ECE5E47A8B}"/>
              </a:ext>
            </a:extLst>
          </p:cNvPr>
          <p:cNvSpPr txBox="1"/>
          <p:nvPr/>
        </p:nvSpPr>
        <p:spPr>
          <a:xfrm>
            <a:off x="3853543" y="2396797"/>
            <a:ext cx="539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차량</a:t>
            </a:r>
            <a:r>
              <a:rPr lang="en-US" altLang="ko-KR" dirty="0"/>
              <a:t> </a:t>
            </a:r>
            <a:r>
              <a:rPr lang="ko-KR" altLang="en-US" dirty="0"/>
              <a:t>관리자 </a:t>
            </a:r>
            <a:r>
              <a:rPr lang="en-US" altLang="ko-KR" dirty="0"/>
              <a:t>– </a:t>
            </a:r>
            <a:r>
              <a:rPr lang="ko-KR" altLang="en-US" dirty="0"/>
              <a:t>전사</a:t>
            </a:r>
            <a:r>
              <a:rPr lang="en-US" altLang="ko-KR" dirty="0"/>
              <a:t> </a:t>
            </a:r>
            <a:r>
              <a:rPr lang="ko-KR" altLang="en-US" dirty="0"/>
              <a:t>차량 정비 관리 가능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715E7-EA3E-E857-E2AD-0C87E29D2AAB}"/>
              </a:ext>
            </a:extLst>
          </p:cNvPr>
          <p:cNvSpPr txBox="1"/>
          <p:nvPr/>
        </p:nvSpPr>
        <p:spPr>
          <a:xfrm>
            <a:off x="3853543" y="3128079"/>
            <a:ext cx="539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차량</a:t>
            </a:r>
            <a:r>
              <a:rPr lang="en-US" altLang="ko-KR" dirty="0"/>
              <a:t> </a:t>
            </a:r>
            <a:r>
              <a:rPr lang="ko-KR" altLang="en-US" dirty="0" err="1"/>
              <a:t>운행자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자신에게 배정받은 차량 정비만 가능</a:t>
            </a:r>
          </a:p>
        </p:txBody>
      </p:sp>
    </p:spTree>
    <p:extLst>
      <p:ext uri="{BB962C8B-B14F-4D97-AF65-F5344CB8AC3E}">
        <p14:creationId xmlns:p14="http://schemas.microsoft.com/office/powerpoint/2010/main" val="102149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EE1042D-77BE-12C0-5B6F-6780CE68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9949"/>
            <a:ext cx="9906000" cy="45581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90E54D7-7230-5A27-8F58-72DD149282FA}"/>
              </a:ext>
            </a:extLst>
          </p:cNvPr>
          <p:cNvSpPr/>
          <p:nvPr/>
        </p:nvSpPr>
        <p:spPr>
          <a:xfrm>
            <a:off x="48986" y="5397231"/>
            <a:ext cx="756000" cy="27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Button">
            <a:extLst>
              <a:ext uri="{FF2B5EF4-FFF2-40B4-BE49-F238E27FC236}">
                <a16:creationId xmlns:a16="http://schemas.microsoft.com/office/drawing/2014/main" id="{E01A58DB-B905-8B3D-472C-4C8E542BEED6}"/>
              </a:ext>
            </a:extLst>
          </p:cNvPr>
          <p:cNvSpPr>
            <a:spLocks/>
          </p:cNvSpPr>
          <p:nvPr/>
        </p:nvSpPr>
        <p:spPr bwMode="auto">
          <a:xfrm>
            <a:off x="50471" y="5413559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차량운행일지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7AF13-A79D-34B3-4B6D-9550ADFB2436}"/>
              </a:ext>
            </a:extLst>
          </p:cNvPr>
          <p:cNvSpPr txBox="1"/>
          <p:nvPr/>
        </p:nvSpPr>
        <p:spPr>
          <a:xfrm>
            <a:off x="220436" y="171450"/>
            <a:ext cx="175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UI/UX </a:t>
            </a:r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55768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E683A3-5643-C5DA-F51F-034EAC1D2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099"/>
            <a:ext cx="9906000" cy="47078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90E54D7-7230-5A27-8F58-72DD149282FA}"/>
              </a:ext>
            </a:extLst>
          </p:cNvPr>
          <p:cNvSpPr/>
          <p:nvPr/>
        </p:nvSpPr>
        <p:spPr>
          <a:xfrm>
            <a:off x="40822" y="4850223"/>
            <a:ext cx="756000" cy="27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Button">
            <a:extLst>
              <a:ext uri="{FF2B5EF4-FFF2-40B4-BE49-F238E27FC236}">
                <a16:creationId xmlns:a16="http://schemas.microsoft.com/office/drawing/2014/main" id="{E01A58DB-B905-8B3D-472C-4C8E542BEED6}"/>
              </a:ext>
            </a:extLst>
          </p:cNvPr>
          <p:cNvSpPr>
            <a:spLocks/>
          </p:cNvSpPr>
          <p:nvPr/>
        </p:nvSpPr>
        <p:spPr bwMode="auto">
          <a:xfrm>
            <a:off x="42307" y="4866551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차량운행일지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7AF13-A79D-34B3-4B6D-9550ADFB2436}"/>
              </a:ext>
            </a:extLst>
          </p:cNvPr>
          <p:cNvSpPr txBox="1"/>
          <p:nvPr/>
        </p:nvSpPr>
        <p:spPr>
          <a:xfrm>
            <a:off x="220436" y="171450"/>
            <a:ext cx="175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UI/UX </a:t>
            </a:r>
            <a:r>
              <a:rPr lang="ko-KR" altLang="en-US" dirty="0"/>
              <a:t>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FB84C3-540F-8C28-9B52-20C0BF1E9443}"/>
              </a:ext>
            </a:extLst>
          </p:cNvPr>
          <p:cNvSpPr/>
          <p:nvPr/>
        </p:nvSpPr>
        <p:spPr>
          <a:xfrm>
            <a:off x="775607" y="1159329"/>
            <a:ext cx="857250" cy="3641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Button">
            <a:extLst>
              <a:ext uri="{FF2B5EF4-FFF2-40B4-BE49-F238E27FC236}">
                <a16:creationId xmlns:a16="http://schemas.microsoft.com/office/drawing/2014/main" id="{74114452-DC4B-88D9-40FD-78D6669A950B}"/>
              </a:ext>
            </a:extLst>
          </p:cNvPr>
          <p:cNvSpPr>
            <a:spLocks/>
          </p:cNvSpPr>
          <p:nvPr/>
        </p:nvSpPr>
        <p:spPr bwMode="auto">
          <a:xfrm>
            <a:off x="775607" y="1109706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차량운행일지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2" name="Button">
            <a:extLst>
              <a:ext uri="{FF2B5EF4-FFF2-40B4-BE49-F238E27FC236}">
                <a16:creationId xmlns:a16="http://schemas.microsoft.com/office/drawing/2014/main" id="{979C4ABB-E60E-9440-DB32-54BD28FF73E6}"/>
              </a:ext>
            </a:extLst>
          </p:cNvPr>
          <p:cNvSpPr>
            <a:spLocks/>
          </p:cNvSpPr>
          <p:nvPr/>
        </p:nvSpPr>
        <p:spPr bwMode="auto">
          <a:xfrm>
            <a:off x="834241" y="1417233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차량운행일지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Button">
            <a:extLst>
              <a:ext uri="{FF2B5EF4-FFF2-40B4-BE49-F238E27FC236}">
                <a16:creationId xmlns:a16="http://schemas.microsoft.com/office/drawing/2014/main" id="{FD1E75E2-AE7D-396B-9D25-1292A4ABEE9A}"/>
              </a:ext>
            </a:extLst>
          </p:cNvPr>
          <p:cNvSpPr>
            <a:spLocks/>
          </p:cNvSpPr>
          <p:nvPr/>
        </p:nvSpPr>
        <p:spPr bwMode="auto">
          <a:xfrm>
            <a:off x="834240" y="1643095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차량등록</a:t>
            </a:r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F49DF5-7BC2-C147-5885-846C98A83769}"/>
              </a:ext>
            </a:extLst>
          </p:cNvPr>
          <p:cNvSpPr/>
          <p:nvPr/>
        </p:nvSpPr>
        <p:spPr>
          <a:xfrm>
            <a:off x="1724148" y="1075099"/>
            <a:ext cx="8181852" cy="47950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Button">
            <a:extLst>
              <a:ext uri="{FF2B5EF4-FFF2-40B4-BE49-F238E27FC236}">
                <a16:creationId xmlns:a16="http://schemas.microsoft.com/office/drawing/2014/main" id="{3F771E8E-085D-C2B3-C082-E9590F4A6B23}"/>
              </a:ext>
            </a:extLst>
          </p:cNvPr>
          <p:cNvSpPr>
            <a:spLocks/>
          </p:cNvSpPr>
          <p:nvPr/>
        </p:nvSpPr>
        <p:spPr bwMode="auto">
          <a:xfrm>
            <a:off x="834240" y="1868957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차량정비</a:t>
            </a:r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 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51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FCEF14B-DC21-4864-E102-5E15CEC9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606"/>
            <a:ext cx="9906000" cy="4738788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A547B6-5CB8-5F4A-826D-40385FF96887}"/>
              </a:ext>
            </a:extLst>
          </p:cNvPr>
          <p:cNvSpPr/>
          <p:nvPr/>
        </p:nvSpPr>
        <p:spPr>
          <a:xfrm>
            <a:off x="980134" y="1305934"/>
            <a:ext cx="8922212" cy="3414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09906C-455F-8997-2AC2-9509CAD8F855}"/>
              </a:ext>
            </a:extLst>
          </p:cNvPr>
          <p:cNvSpPr/>
          <p:nvPr/>
        </p:nvSpPr>
        <p:spPr>
          <a:xfrm>
            <a:off x="89806" y="4351461"/>
            <a:ext cx="756000" cy="27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Button">
            <a:extLst>
              <a:ext uri="{FF2B5EF4-FFF2-40B4-BE49-F238E27FC236}">
                <a16:creationId xmlns:a16="http://schemas.microsoft.com/office/drawing/2014/main" id="{E70AF520-0831-C941-4634-64B38DDAD334}"/>
              </a:ext>
            </a:extLst>
          </p:cNvPr>
          <p:cNvSpPr>
            <a:spLocks/>
          </p:cNvSpPr>
          <p:nvPr/>
        </p:nvSpPr>
        <p:spPr bwMode="auto">
          <a:xfrm>
            <a:off x="91291" y="4367789"/>
            <a:ext cx="676860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차량관리자</a:t>
            </a:r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EE99F-90C0-DA5E-56D4-BA4B9CE9FF72}"/>
              </a:ext>
            </a:extLst>
          </p:cNvPr>
          <p:cNvSpPr txBox="1"/>
          <p:nvPr/>
        </p:nvSpPr>
        <p:spPr>
          <a:xfrm>
            <a:off x="1291023" y="1401184"/>
            <a:ext cx="23621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차량관리자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권한 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EF969A-F3C6-5934-7BE8-CF7FCBF6FAAB}"/>
              </a:ext>
            </a:extLst>
          </p:cNvPr>
          <p:cNvSpPr/>
          <p:nvPr/>
        </p:nvSpPr>
        <p:spPr>
          <a:xfrm>
            <a:off x="3353836" y="3375410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32B289-58AF-38A4-ED2D-882C12622B13}"/>
              </a:ext>
            </a:extLst>
          </p:cNvPr>
          <p:cNvSpPr/>
          <p:nvPr/>
        </p:nvSpPr>
        <p:spPr>
          <a:xfrm>
            <a:off x="3844540" y="3375410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126E6A7-D553-DFA5-B5B6-D6C07ECE9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565166"/>
              </p:ext>
            </p:extLst>
          </p:nvPr>
        </p:nvGraphicFramePr>
        <p:xfrm>
          <a:off x="1468399" y="1832889"/>
          <a:ext cx="4842286" cy="1368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272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관리자 권한설정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27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경영지원팀</a:t>
                      </a:r>
                      <a:endParaRPr lang="en-US" altLang="ko-KR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김철수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제경팀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F535453B-71D8-0FE9-5EF0-382C1508F811}"/>
              </a:ext>
            </a:extLst>
          </p:cNvPr>
          <p:cNvGrpSpPr/>
          <p:nvPr/>
        </p:nvGrpSpPr>
        <p:grpSpPr>
          <a:xfrm>
            <a:off x="6230519" y="2068858"/>
            <a:ext cx="80166" cy="1132182"/>
            <a:chOff x="5068503" y="2029936"/>
            <a:chExt cx="80589" cy="494762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96FB2B6-5793-8B6E-5018-7A59B502C94B}"/>
                </a:ext>
              </a:extLst>
            </p:cNvPr>
            <p:cNvSpPr/>
            <p:nvPr/>
          </p:nvSpPr>
          <p:spPr>
            <a:xfrm>
              <a:off x="5068503" y="2029936"/>
              <a:ext cx="79312" cy="4947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F2F177E-615E-F7D4-9047-B207A4DF30ED}"/>
                </a:ext>
              </a:extLst>
            </p:cNvPr>
            <p:cNvSpPr/>
            <p:nvPr/>
          </p:nvSpPr>
          <p:spPr>
            <a:xfrm>
              <a:off x="5069780" y="2133854"/>
              <a:ext cx="79312" cy="279281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B7F7CCA-DC1E-6603-076B-C1AC49F28C96}"/>
              </a:ext>
            </a:extLst>
          </p:cNvPr>
          <p:cNvSpPr/>
          <p:nvPr/>
        </p:nvSpPr>
        <p:spPr>
          <a:xfrm>
            <a:off x="5780077" y="1832888"/>
            <a:ext cx="491160" cy="1648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C038CCD-1058-7D08-A7FF-50295271F4C6}"/>
              </a:ext>
            </a:extLst>
          </p:cNvPr>
          <p:cNvCxnSpPr/>
          <p:nvPr/>
        </p:nvCxnSpPr>
        <p:spPr>
          <a:xfrm>
            <a:off x="1304189" y="1712950"/>
            <a:ext cx="6156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EE54041-60AD-E234-E62B-48FAC519E521}"/>
              </a:ext>
            </a:extLst>
          </p:cNvPr>
          <p:cNvSpPr txBox="1"/>
          <p:nvPr/>
        </p:nvSpPr>
        <p:spPr>
          <a:xfrm>
            <a:off x="220436" y="171450"/>
            <a:ext cx="175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UI/UX </a:t>
            </a:r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417037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3418" y="285046"/>
            <a:ext cx="2520280" cy="23747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리스트 페이지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730849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107942" y="307796"/>
            <a:ext cx="1762021" cy="204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0776" y="592561"/>
            <a:ext cx="7510473" cy="5636634"/>
            <a:chOff x="50776" y="592561"/>
            <a:chExt cx="7510473" cy="5636634"/>
          </a:xfrm>
        </p:grpSpPr>
        <p:grpSp>
          <p:nvGrpSpPr>
            <p:cNvPr id="4" name="그룹 3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1" name="직사각형 10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4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TextBox 17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6" name="직사각형 5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43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44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4" name="타원 73"/>
          <p:cNvSpPr/>
          <p:nvPr/>
        </p:nvSpPr>
        <p:spPr>
          <a:xfrm>
            <a:off x="3740708" y="869347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15997"/>
              </p:ext>
            </p:extLst>
          </p:nvPr>
        </p:nvGraphicFramePr>
        <p:xfrm>
          <a:off x="7619846" y="520982"/>
          <a:ext cx="2286153" cy="332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정보 관리 페이지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영역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차량관리자가 차량이용자로 등록한 계정만 해당 서비스 메뉴가 노출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2depth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영역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타이틀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영억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중 차량이 변경된 경우 복수의 차량이 노출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리스트의 행을 클릭하면 차량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운행정보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등록 페이지로 이동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일반 사용자는 이용자로 등록된 차량 정보만 표기</a:t>
                      </a:r>
                    </a:p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차량관리자는 모든 차량 목록 표기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차량등록메뉴에서 차량이용자 변경 시 동일한 차량 번호가 중복으로 등록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차량이용자가 변경되어야 함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차량관리자계정으로 조회시에만 모든 차량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운행일저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정보 노출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차량이용자는 현재 이용중인 차량운행정보와 변경된 차량의 운행정보가 노출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b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총주행거리가 차량정비에 등록한 각 항목의 주행거리 알람의 해당 주행거리 돌파 시 차량운행자와 관리자에게 메일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/SMS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알림 발송됨  </a:t>
                      </a:r>
                      <a:endParaRPr lang="en-US" altLang="ko-KR" sz="700" b="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753054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444618"/>
              </p:ext>
            </p:extLst>
          </p:nvPr>
        </p:nvGraphicFramePr>
        <p:xfrm>
          <a:off x="1322534" y="1767161"/>
          <a:ext cx="6150606" cy="103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159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88929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3246339660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  <a:gridCol w="808753">
                  <a:extLst>
                    <a:ext uri="{9D8B030D-6E8A-4147-A177-3AD203B41FA5}">
                      <a16:colId xmlns:a16="http://schemas.microsoft.com/office/drawing/2014/main" val="3400667012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일련번호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총주행거리</a:t>
                      </a:r>
                      <a:endParaRPr lang="en-US" altLang="ko-KR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 업무용 주행거리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업무용비율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(%)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ICT</a:t>
                      </a:r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김철수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1,800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90%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2022.07.01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668454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1,020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840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82.5%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90%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75605" y="1275179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관리</a:t>
            </a:r>
          </a:p>
        </p:txBody>
      </p:sp>
      <p:sp>
        <p:nvSpPr>
          <p:cNvPr id="39" name="타원 38"/>
          <p:cNvSpPr/>
          <p:nvPr/>
        </p:nvSpPr>
        <p:spPr>
          <a:xfrm>
            <a:off x="49655" y="1598101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237395" y="1289422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081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3418" y="285046"/>
            <a:ext cx="2520280" cy="23747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</a:t>
            </a:r>
            <a:r>
              <a:rPr lang="ko-KR" altLang="en-US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운행기록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등록 페이지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35420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107942" y="307796"/>
            <a:ext cx="1762021" cy="204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0776" y="592561"/>
            <a:ext cx="7510473" cy="5636634"/>
            <a:chOff x="50776" y="592561"/>
            <a:chExt cx="7510473" cy="5636634"/>
          </a:xfrm>
        </p:grpSpPr>
        <p:grpSp>
          <p:nvGrpSpPr>
            <p:cNvPr id="4" name="그룹 3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1" name="직사각형 10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4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TextBox 17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6" name="직사각형 5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43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44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841825"/>
              </p:ext>
            </p:extLst>
          </p:nvPr>
        </p:nvGraphicFramePr>
        <p:xfrm>
          <a:off x="7619846" y="520982"/>
          <a:ext cx="2286153" cy="493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정보 관리 페이지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타이틀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영억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기본 정보 리스트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 정보 노출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주행거리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해년도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부터 조회일까지의 총 주행거리 합계 표시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업무용 거리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당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해년도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일부터 조회일까지의 총 업무용 주행거리 합계 표시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출퇴근 합산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차량이 변경된 경우 각각의 차량 정보에서 해당 주행거리 정보 확인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조회기간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기본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조회기간은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개월 기준으로 조회된 내역을 리스트에 노출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달력 아이콘 클릭 시 달력에서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조회일자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지정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버큰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클릭 시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조회기간의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차량 운행기록을 조회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운행내역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등록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기록을 등록하는 팝업이 생성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운행일지 다운로드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첨부된 국세청보고양식에 맞춘 차량운행일지 정보 다운로드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416289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일괄등록양식 다운로드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차량운행기록을 일괄 등록을 할 수 있는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기본 양식을 다운로드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83811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일괄 대량 등록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기본 양식에 작성된 차량운행기록을 업로드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550036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 시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건의 데이터만 리스트로 출력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- 10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건이 넘는 데이터는 페이지로 처리 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행을 클릭 시 차량운행 내역을 수정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삭제할 수 있는 팝업 생성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endParaRPr lang="en-US" altLang="ko-KR" sz="700" b="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012873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55540"/>
              </p:ext>
            </p:extLst>
          </p:nvPr>
        </p:nvGraphicFramePr>
        <p:xfrm>
          <a:off x="1310810" y="3004610"/>
          <a:ext cx="6200110" cy="237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57">
                  <a:extLst>
                    <a:ext uri="{9D8B030D-6E8A-4147-A177-3AD203B41FA5}">
                      <a16:colId xmlns:a16="http://schemas.microsoft.com/office/drawing/2014/main" val="4208791192"/>
                    </a:ext>
                  </a:extLst>
                </a:gridCol>
                <a:gridCol w="650373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46093798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6682307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558323642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24633966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434863914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1040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99105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51034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6191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351922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21233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75605" y="1275179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차량운행기록</a:t>
            </a:r>
          </a:p>
        </p:txBody>
      </p:sp>
      <p:sp>
        <p:nvSpPr>
          <p:cNvPr id="30" name="Calendar"/>
          <p:cNvSpPr>
            <a:spLocks noChangeAspect="1" noEditPoints="1"/>
          </p:cNvSpPr>
          <p:nvPr/>
        </p:nvSpPr>
        <p:spPr bwMode="auto">
          <a:xfrm>
            <a:off x="5724173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Button"/>
          <p:cNvSpPr>
            <a:spLocks/>
          </p:cNvSpPr>
          <p:nvPr/>
        </p:nvSpPr>
        <p:spPr bwMode="auto">
          <a:xfrm>
            <a:off x="7098988" y="2469767"/>
            <a:ext cx="378068" cy="180000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958688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2022.01.11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Calendar"/>
          <p:cNvSpPr>
            <a:spLocks noChangeAspect="1" noEditPoints="1"/>
          </p:cNvSpPr>
          <p:nvPr/>
        </p:nvSpPr>
        <p:spPr bwMode="auto">
          <a:xfrm>
            <a:off x="6862520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97035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2022.06.10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58762" y="23751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Button"/>
          <p:cNvSpPr>
            <a:spLocks/>
          </p:cNvSpPr>
          <p:nvPr/>
        </p:nvSpPr>
        <p:spPr bwMode="auto">
          <a:xfrm>
            <a:off x="5676031" y="2719998"/>
            <a:ext cx="769114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err="1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운행내역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8" name="Button"/>
          <p:cNvSpPr>
            <a:spLocks/>
          </p:cNvSpPr>
          <p:nvPr/>
        </p:nvSpPr>
        <p:spPr bwMode="auto">
          <a:xfrm>
            <a:off x="6535298" y="2712398"/>
            <a:ext cx="948769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운행일지 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237395" y="1289422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827520" y="2472660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5529964" y="2758831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7086248" y="2358440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124361"/>
              </p:ext>
            </p:extLst>
          </p:nvPr>
        </p:nvGraphicFramePr>
        <p:xfrm>
          <a:off x="1310810" y="1557001"/>
          <a:ext cx="4594239" cy="5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128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099810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 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업무용거리</a:t>
                      </a:r>
                      <a:endParaRPr lang="en-US" altLang="ko-KR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비업무용 제외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</a:tbl>
          </a:graphicData>
        </a:graphic>
      </p:graphicFrame>
      <p:sp>
        <p:nvSpPr>
          <p:cNvPr id="86" name="Button"/>
          <p:cNvSpPr>
            <a:spLocks/>
          </p:cNvSpPr>
          <p:nvPr/>
        </p:nvSpPr>
        <p:spPr bwMode="auto">
          <a:xfrm>
            <a:off x="6732477" y="5781344"/>
            <a:ext cx="798247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 대량 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87" name="Button"/>
          <p:cNvSpPr>
            <a:spLocks/>
          </p:cNvSpPr>
          <p:nvPr/>
        </p:nvSpPr>
        <p:spPr bwMode="auto">
          <a:xfrm>
            <a:off x="5561915" y="5778909"/>
            <a:ext cx="1138133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일괄등록양식 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6447282" y="274443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5442908" y="5797076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6665006" y="5809111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9" name="표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982703"/>
              </p:ext>
            </p:extLst>
          </p:nvPr>
        </p:nvGraphicFramePr>
        <p:xfrm>
          <a:off x="2371735" y="5422455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" name="제목 1"/>
          <p:cNvSpPr txBox="1">
            <a:spLocks/>
          </p:cNvSpPr>
          <p:nvPr/>
        </p:nvSpPr>
        <p:spPr>
          <a:xfrm>
            <a:off x="580973" y="2537187"/>
            <a:ext cx="2520280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1238843" y="1527748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2" name="타원 111"/>
          <p:cNvSpPr/>
          <p:nvPr/>
        </p:nvSpPr>
        <p:spPr>
          <a:xfrm>
            <a:off x="1237395" y="2992136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68002" y="2127179"/>
            <a:ext cx="5170808" cy="21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6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816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비업무용 거리도 모두 등록되어야 전체 주행거리 합계가 일치합니다</a:t>
            </a:r>
            <a:r>
              <a:rPr lang="en-US" altLang="ko-KR" sz="816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816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DE5518-0F78-F96F-4124-29C08B78F925}"/>
              </a:ext>
            </a:extLst>
          </p:cNvPr>
          <p:cNvSpPr/>
          <p:nvPr/>
        </p:nvSpPr>
        <p:spPr>
          <a:xfrm>
            <a:off x="8877301" y="6591300"/>
            <a:ext cx="10287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 0.7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176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3418" y="285046"/>
            <a:ext cx="2520280" cy="23747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페이지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82137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107942" y="307796"/>
            <a:ext cx="960519" cy="204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0776" y="592561"/>
            <a:ext cx="7510473" cy="5636634"/>
            <a:chOff x="50776" y="592561"/>
            <a:chExt cx="7510473" cy="5636634"/>
          </a:xfrm>
        </p:grpSpPr>
        <p:grpSp>
          <p:nvGrpSpPr>
            <p:cNvPr id="4" name="그룹 3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1" name="직사각형 10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4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TextBox 17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6" name="직사각형 5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43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44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54541"/>
              </p:ext>
            </p:extLst>
          </p:nvPr>
        </p:nvGraphicFramePr>
        <p:xfrm>
          <a:off x="7619846" y="520982"/>
          <a:ext cx="2286153" cy="57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정보 입력 팝업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 추가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사용일자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달력 클릭 시 등록하는 일자를 중복으로 등록 가능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체크박스</a:t>
                      </a:r>
                      <a:endParaRPr lang="en-US" altLang="ko-KR" sz="700" b="0" u="non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default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출퇴근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FontTx/>
                        <a:buChar char="-"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일반업무용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비업무용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운행이력이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있는 경우 이전 운행의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도착지명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자동입력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숫자만 입력 가능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운행이력이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있는 경우 이전 운행의 도착지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자동입력 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3111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숫자외의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값이 입력 시 토스트 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257568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숫자만 입력 가능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676892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숫자외의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값이 입력 시 토스트 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835682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설정한 내용 그대로 저장 및 적용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 완료 안내 토스트 팝업 띄움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753034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805759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8-2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작지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 출발지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보다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작을경우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팝업</a:t>
                      </a: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운행일지 등록 팝업으로 이동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1971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8-3</a:t>
                      </a:r>
                      <a:endParaRPr lang="ko-KR" altLang="en-US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저장완료 안내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출발지명과 도착지명이 모두 등록되어야 운행일지 등록이 저장됩니다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142844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56501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337862"/>
              </p:ext>
            </p:extLst>
          </p:nvPr>
        </p:nvGraphicFramePr>
        <p:xfrm>
          <a:off x="1310810" y="3004610"/>
          <a:ext cx="6200110" cy="237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57">
                  <a:extLst>
                    <a:ext uri="{9D8B030D-6E8A-4147-A177-3AD203B41FA5}">
                      <a16:colId xmlns:a16="http://schemas.microsoft.com/office/drawing/2014/main" val="4208791192"/>
                    </a:ext>
                  </a:extLst>
                </a:gridCol>
                <a:gridCol w="650373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46093798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6682307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558323642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24633966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434863914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1040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99105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51034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6191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351922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21233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75605" y="1275179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차량운행기록</a:t>
            </a:r>
          </a:p>
        </p:txBody>
      </p:sp>
      <p:sp>
        <p:nvSpPr>
          <p:cNvPr id="30" name="Calendar"/>
          <p:cNvSpPr>
            <a:spLocks noChangeAspect="1" noEditPoints="1"/>
          </p:cNvSpPr>
          <p:nvPr/>
        </p:nvSpPr>
        <p:spPr bwMode="auto">
          <a:xfrm>
            <a:off x="5724173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Button"/>
          <p:cNvSpPr>
            <a:spLocks/>
          </p:cNvSpPr>
          <p:nvPr/>
        </p:nvSpPr>
        <p:spPr bwMode="auto">
          <a:xfrm>
            <a:off x="7098988" y="2469767"/>
            <a:ext cx="378068" cy="180000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958688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sp>
        <p:nvSpPr>
          <p:cNvPr id="34" name="Calendar"/>
          <p:cNvSpPr>
            <a:spLocks noChangeAspect="1" noEditPoints="1"/>
          </p:cNvSpPr>
          <p:nvPr/>
        </p:nvSpPr>
        <p:spPr bwMode="auto">
          <a:xfrm>
            <a:off x="6862520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97035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8762" y="23751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Button"/>
          <p:cNvSpPr>
            <a:spLocks/>
          </p:cNvSpPr>
          <p:nvPr/>
        </p:nvSpPr>
        <p:spPr bwMode="auto">
          <a:xfrm>
            <a:off x="5676031" y="2719998"/>
            <a:ext cx="769114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err="1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운행내역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8" name="Button"/>
          <p:cNvSpPr>
            <a:spLocks/>
          </p:cNvSpPr>
          <p:nvPr/>
        </p:nvSpPr>
        <p:spPr bwMode="auto">
          <a:xfrm>
            <a:off x="6535298" y="2712398"/>
            <a:ext cx="948769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운행일지</a:t>
            </a:r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l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1310810" y="1557001"/>
          <a:ext cx="4594239" cy="5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128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099810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 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업무용거리</a:t>
                      </a:r>
                      <a:endParaRPr lang="en-US" altLang="ko-KR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비업무용 제외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</a:tbl>
          </a:graphicData>
        </a:graphic>
      </p:graphicFrame>
      <p:sp>
        <p:nvSpPr>
          <p:cNvPr id="86" name="Button"/>
          <p:cNvSpPr>
            <a:spLocks/>
          </p:cNvSpPr>
          <p:nvPr/>
        </p:nvSpPr>
        <p:spPr bwMode="auto">
          <a:xfrm>
            <a:off x="6732477" y="5781344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일괄대량등록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87" name="Button"/>
          <p:cNvSpPr>
            <a:spLocks/>
          </p:cNvSpPr>
          <p:nvPr/>
        </p:nvSpPr>
        <p:spPr bwMode="auto">
          <a:xfrm>
            <a:off x="5561915" y="5778909"/>
            <a:ext cx="1109000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일괄등록양식다운로드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4512213" y="6035415"/>
            <a:ext cx="892949" cy="886140"/>
            <a:chOff x="4015772" y="2577498"/>
            <a:chExt cx="727150" cy="886140"/>
          </a:xfrm>
        </p:grpSpPr>
        <p:grpSp>
          <p:nvGrpSpPr>
            <p:cNvPr id="90" name="그룹 89"/>
            <p:cNvGrpSpPr/>
            <p:nvPr/>
          </p:nvGrpSpPr>
          <p:grpSpPr>
            <a:xfrm>
              <a:off x="4015772" y="2577498"/>
              <a:ext cx="727150" cy="886140"/>
              <a:chOff x="3518214" y="3705736"/>
              <a:chExt cx="727150" cy="886140"/>
            </a:xfrm>
          </p:grpSpPr>
          <p:sp>
            <p:nvSpPr>
              <p:cNvPr id="92" name="Text Box"/>
              <p:cNvSpPr/>
              <p:nvPr/>
            </p:nvSpPr>
            <p:spPr>
              <a:xfrm>
                <a:off x="3518214" y="3705736"/>
                <a:ext cx="727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출퇴근</a:t>
                </a:r>
                <a:endParaRPr lang="en-US" sz="8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93" name="Arrow Down" descr="&lt;SmartSettings&gt;&lt;SmartResize anchorLeft=&quot;None&quot; anchorTop=&quot;None&quot; anchorRight=&quot;Absolute&quot; anchorBottom=&quot;None&quot; /&gt;&lt;/SmartSettings&gt;"/>
              <p:cNvSpPr>
                <a:spLocks noChangeAspect="1"/>
              </p:cNvSpPr>
              <p:nvPr>
                <p:custDataLst>
                  <p:tags r:id="rId6"/>
                </p:custDataLst>
              </p:nvPr>
            </p:nvSpPr>
            <p:spPr bwMode="auto">
              <a:xfrm flipH="1">
                <a:off x="4142974" y="3775165"/>
                <a:ext cx="32665" cy="71999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solidFill>
                <a:srgbClr val="FFFFFF"/>
              </a:solidFill>
              <a:ln w="6350" cap="sq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Text Box"/>
              <p:cNvSpPr/>
              <p:nvPr/>
            </p:nvSpPr>
            <p:spPr>
              <a:xfrm>
                <a:off x="3518214" y="3935286"/>
                <a:ext cx="727150" cy="6565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000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출퇴근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b="1" dirty="0" err="1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일반업무용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비업무용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91" name="Text Box"/>
            <p:cNvSpPr/>
            <p:nvPr/>
          </p:nvSpPr>
          <p:spPr>
            <a:xfrm>
              <a:off x="4020396" y="2839562"/>
              <a:ext cx="722526" cy="225703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7" name="타원 96"/>
          <p:cNvSpPr/>
          <p:nvPr/>
        </p:nvSpPr>
        <p:spPr>
          <a:xfrm>
            <a:off x="5442908" y="5797076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9" name="표 98"/>
          <p:cNvGraphicFramePr>
            <a:graphicFrameLocks noGrp="1"/>
          </p:cNvGraphicFramePr>
          <p:nvPr/>
        </p:nvGraphicFramePr>
        <p:xfrm>
          <a:off x="2371735" y="5422455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" name="제목 1"/>
          <p:cNvSpPr txBox="1">
            <a:spLocks/>
          </p:cNvSpPr>
          <p:nvPr/>
        </p:nvSpPr>
        <p:spPr>
          <a:xfrm>
            <a:off x="580973" y="2537187"/>
            <a:ext cx="2520280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838303" y="445266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329007" y="445266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pSp>
        <p:nvGrpSpPr>
          <p:cNvPr id="63" name="Window" descr="&lt;SmartSettings&gt;&lt;SmartResize enabled=&quot;True&quot; minWidth=&quot;60&quot; minHeight=&quot;3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871431" y="2347357"/>
            <a:ext cx="4815005" cy="2480809"/>
            <a:chOff x="595685" y="1261242"/>
            <a:chExt cx="6668463" cy="4352543"/>
          </a:xfrm>
        </p:grpSpPr>
        <p:sp>
          <p:nvSpPr>
            <p:cNvPr id="64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678362"/>
              <a:ext cx="6668463" cy="3935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595686" y="1261242"/>
              <a:ext cx="6668459" cy="41711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6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972089" y="1386244"/>
              <a:ext cx="136312" cy="167115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83481"/>
              </p:ext>
            </p:extLst>
          </p:nvPr>
        </p:nvGraphicFramePr>
        <p:xfrm>
          <a:off x="1979739" y="2943851"/>
          <a:ext cx="4594239" cy="127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483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659062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355378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사용일자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출발지명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도착지명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   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987"/>
                  </a:ext>
                </a:extLst>
              </a:tr>
            </a:tbl>
          </a:graphicData>
        </a:graphic>
      </p:graphicFrame>
      <p:sp>
        <p:nvSpPr>
          <p:cNvPr id="70" name="직사각형 69"/>
          <p:cNvSpPr/>
          <p:nvPr/>
        </p:nvSpPr>
        <p:spPr>
          <a:xfrm>
            <a:off x="1979739" y="2649059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운행일지 등록</a:t>
            </a:r>
            <a:endParaRPr lang="en-US" altLang="ko-KR" sz="10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838303" y="445266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4329007" y="445266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932325" y="2996493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5" name="Calendar"/>
          <p:cNvSpPr>
            <a:spLocks noChangeAspect="1" noEditPoints="1"/>
          </p:cNvSpPr>
          <p:nvPr/>
        </p:nvSpPr>
        <p:spPr bwMode="auto">
          <a:xfrm>
            <a:off x="4020774" y="2997553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927785" y="3339856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931017" y="3664697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927784" y="3966982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309525" y="3340051"/>
            <a:ext cx="1224449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09525" y="3653836"/>
            <a:ext cx="828000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5311073" y="3976614"/>
            <a:ext cx="828000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5" name="Arrow Down" descr="&lt;SmartSettings&gt;&lt;SmartResize anchorLeft=&quot;None&quot; anchorTop=&quot;None&quot; anchorRight=&quot;Absolute&quot; anchorBottom=&quot;None&quot; /&gt;&lt;/SmartSettings&gt;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 flipH="1">
            <a:off x="3863328" y="3400853"/>
            <a:ext cx="40113" cy="7199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solidFill>
            <a:srgbClr val="FFFFFF"/>
          </a:solidFill>
          <a:ln w="6350" cap="sq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3788808" y="4382095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4293112" y="4382095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797177" y="2980564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812154" y="3347684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2797176" y="368639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2796616" y="3985485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타원 109"/>
          <p:cNvSpPr/>
          <p:nvPr/>
        </p:nvSpPr>
        <p:spPr>
          <a:xfrm>
            <a:off x="5173672" y="3696107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5173672" y="3998290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2" name="타원 111"/>
          <p:cNvSpPr/>
          <p:nvPr/>
        </p:nvSpPr>
        <p:spPr>
          <a:xfrm>
            <a:off x="5178626" y="3385220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8" name="꺾인 연결선 7"/>
          <p:cNvCxnSpPr>
            <a:stCxn id="76" idx="3"/>
            <a:endCxn id="91" idx="1"/>
          </p:cNvCxnSpPr>
          <p:nvPr/>
        </p:nvCxnSpPr>
        <p:spPr>
          <a:xfrm>
            <a:off x="3964370" y="3429856"/>
            <a:ext cx="553521" cy="29804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2623293" y="5316857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정보가 등록되었습니다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063854" y="5892894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16" name="타원 115"/>
          <p:cNvSpPr/>
          <p:nvPr/>
        </p:nvSpPr>
        <p:spPr>
          <a:xfrm>
            <a:off x="2521360" y="529994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8-1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10" name="꺾인 연결선 9"/>
          <p:cNvCxnSpPr>
            <a:stCxn id="72" idx="2"/>
            <a:endCxn id="113" idx="0"/>
          </p:cNvCxnSpPr>
          <p:nvPr/>
        </p:nvCxnSpPr>
        <p:spPr>
          <a:xfrm rot="5400000">
            <a:off x="3340204" y="4592822"/>
            <a:ext cx="677662" cy="7704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832446" y="5379193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 err="1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도작지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Km</a:t>
            </a:r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출발지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Km</a:t>
            </a:r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작을 수 없습니다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1273007" y="595523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00" name="타원 99"/>
          <p:cNvSpPr/>
          <p:nvPr/>
        </p:nvSpPr>
        <p:spPr>
          <a:xfrm>
            <a:off x="730513" y="536228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8-2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-703438" y="5379193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숫자만 입력 가능합니다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-262877" y="595523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04" name="타원 103"/>
          <p:cNvSpPr/>
          <p:nvPr/>
        </p:nvSpPr>
        <p:spPr>
          <a:xfrm>
            <a:off x="-809375" y="536228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6-1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-809375" y="556162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7-1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9" name="꺾인 연결선 8"/>
          <p:cNvCxnSpPr>
            <a:stCxn id="80" idx="2"/>
            <a:endCxn id="101" idx="0"/>
          </p:cNvCxnSpPr>
          <p:nvPr/>
        </p:nvCxnSpPr>
        <p:spPr>
          <a:xfrm rot="5400000">
            <a:off x="2072537" y="1728205"/>
            <a:ext cx="1545552" cy="5756425"/>
          </a:xfrm>
          <a:prstGeom prst="bentConnector3">
            <a:avLst>
              <a:gd name="adj1" fmla="val 284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FA2D53-B2F0-C67A-F4D5-927D4B66A101}"/>
              </a:ext>
            </a:extLst>
          </p:cNvPr>
          <p:cNvSpPr/>
          <p:nvPr/>
        </p:nvSpPr>
        <p:spPr>
          <a:xfrm>
            <a:off x="2623293" y="6389808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출발지명과 도착지명이 모두 입력되어야 합니다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1297DE-E737-100B-B3B5-807CC60EE7DC}"/>
              </a:ext>
            </a:extLst>
          </p:cNvPr>
          <p:cNvSpPr/>
          <p:nvPr/>
        </p:nvSpPr>
        <p:spPr>
          <a:xfrm>
            <a:off x="3063854" y="6965845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45AB2DE-0D95-7CBD-AE5D-440F45F56FB6}"/>
              </a:ext>
            </a:extLst>
          </p:cNvPr>
          <p:cNvSpPr/>
          <p:nvPr/>
        </p:nvSpPr>
        <p:spPr>
          <a:xfrm>
            <a:off x="2521360" y="6372895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8-3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E7CDF07-74BE-CE32-3B73-1EDD82217973}"/>
              </a:ext>
            </a:extLst>
          </p:cNvPr>
          <p:cNvSpPr/>
          <p:nvPr/>
        </p:nvSpPr>
        <p:spPr>
          <a:xfrm>
            <a:off x="8877301" y="6591300"/>
            <a:ext cx="10287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 0.7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85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3418" y="285046"/>
            <a:ext cx="2520280" cy="23747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페이지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938163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차량운행일지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107942" y="307796"/>
            <a:ext cx="960519" cy="204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</a:t>
            </a:r>
            <a:r>
              <a:rPr lang="en-US" altLang="ko-KR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72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0776" y="592561"/>
            <a:ext cx="7510473" cy="5636634"/>
            <a:chOff x="50776" y="592561"/>
            <a:chExt cx="7510473" cy="5636634"/>
          </a:xfrm>
        </p:grpSpPr>
        <p:grpSp>
          <p:nvGrpSpPr>
            <p:cNvPr id="4" name="그룹 3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1" name="직사각형 10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4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TextBox 17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6" name="직사각형 5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43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44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64701"/>
              </p:ext>
            </p:extLst>
          </p:nvPr>
        </p:nvGraphicFramePr>
        <p:xfrm>
          <a:off x="7619846" y="520982"/>
          <a:ext cx="2286153" cy="4050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정보 수정 팝업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 추가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수정된 정보 내용을 저장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49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작지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 출발지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보다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작을경우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팝업</a:t>
                      </a: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운행일지 수정 팝업으로 이동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9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등록된 정보 삭제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정보 삭제 및 팝업 종료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삭제 취소 및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숫자만 입력 가능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이전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운행이력이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있는 경우 이전 운행의 도착지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자동입력 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45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숫자외의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값이 입력 시 토스트 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00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입력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숫자만 입력 가능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605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숫자외의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값이 입력 시 토스트 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348960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227073"/>
              </p:ext>
            </p:extLst>
          </p:nvPr>
        </p:nvGraphicFramePr>
        <p:xfrm>
          <a:off x="1310810" y="3004610"/>
          <a:ext cx="6200110" cy="237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357">
                  <a:extLst>
                    <a:ext uri="{9D8B030D-6E8A-4147-A177-3AD203B41FA5}">
                      <a16:colId xmlns:a16="http://schemas.microsoft.com/office/drawing/2014/main" val="4208791192"/>
                    </a:ext>
                  </a:extLst>
                </a:gridCol>
                <a:gridCol w="650373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46093798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6682307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558323642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246339660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  <a:gridCol w="442865">
                  <a:extLst>
                    <a:ext uri="{9D8B030D-6E8A-4147-A177-3AD203B41FA5}">
                      <a16:colId xmlns:a16="http://schemas.microsoft.com/office/drawing/2014/main" val="3434863914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1040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99105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51034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6191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351922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업무회의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21233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275605" y="1275179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차량운행기록</a:t>
            </a:r>
          </a:p>
        </p:txBody>
      </p:sp>
      <p:sp>
        <p:nvSpPr>
          <p:cNvPr id="30" name="Calendar"/>
          <p:cNvSpPr>
            <a:spLocks noChangeAspect="1" noEditPoints="1"/>
          </p:cNvSpPr>
          <p:nvPr/>
        </p:nvSpPr>
        <p:spPr bwMode="auto">
          <a:xfrm>
            <a:off x="5724173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Button"/>
          <p:cNvSpPr>
            <a:spLocks/>
          </p:cNvSpPr>
          <p:nvPr/>
        </p:nvSpPr>
        <p:spPr bwMode="auto">
          <a:xfrm>
            <a:off x="7098988" y="2469767"/>
            <a:ext cx="378068" cy="180000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958688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sp>
        <p:nvSpPr>
          <p:cNvPr id="34" name="Calendar"/>
          <p:cNvSpPr>
            <a:spLocks noChangeAspect="1" noEditPoints="1"/>
          </p:cNvSpPr>
          <p:nvPr/>
        </p:nvSpPr>
        <p:spPr bwMode="auto">
          <a:xfrm>
            <a:off x="6862520" y="247696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97035" y="2476966"/>
            <a:ext cx="720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8762" y="23751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" name="Button"/>
          <p:cNvSpPr>
            <a:spLocks/>
          </p:cNvSpPr>
          <p:nvPr/>
        </p:nvSpPr>
        <p:spPr bwMode="auto">
          <a:xfrm>
            <a:off x="5676031" y="2719998"/>
            <a:ext cx="769114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err="1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운행내역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38" name="Button"/>
          <p:cNvSpPr>
            <a:spLocks/>
          </p:cNvSpPr>
          <p:nvPr/>
        </p:nvSpPr>
        <p:spPr bwMode="auto">
          <a:xfrm>
            <a:off x="6535298" y="2712398"/>
            <a:ext cx="948769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운행일지</a:t>
            </a:r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l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1310810" y="1557001"/>
          <a:ext cx="4594239" cy="5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128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099810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 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당해년도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업무용거리</a:t>
                      </a:r>
                      <a:endParaRPr lang="en-US" altLang="ko-KR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비업무용 제외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1,040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</a:tbl>
          </a:graphicData>
        </a:graphic>
      </p:graphicFrame>
      <p:sp>
        <p:nvSpPr>
          <p:cNvPr id="86" name="Button"/>
          <p:cNvSpPr>
            <a:spLocks/>
          </p:cNvSpPr>
          <p:nvPr/>
        </p:nvSpPr>
        <p:spPr bwMode="auto">
          <a:xfrm>
            <a:off x="6732477" y="5781344"/>
            <a:ext cx="73998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일괄대량등록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87" name="Button"/>
          <p:cNvSpPr>
            <a:spLocks/>
          </p:cNvSpPr>
          <p:nvPr/>
        </p:nvSpPr>
        <p:spPr bwMode="auto">
          <a:xfrm>
            <a:off x="5561915" y="5778909"/>
            <a:ext cx="1109000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일괄등록양식다운로드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aphicFrame>
        <p:nvGraphicFramePr>
          <p:cNvPr id="99" name="표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258813"/>
              </p:ext>
            </p:extLst>
          </p:nvPr>
        </p:nvGraphicFramePr>
        <p:xfrm>
          <a:off x="2488114" y="4208796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" name="제목 1"/>
          <p:cNvSpPr txBox="1">
            <a:spLocks/>
          </p:cNvSpPr>
          <p:nvPr/>
        </p:nvSpPr>
        <p:spPr>
          <a:xfrm>
            <a:off x="580973" y="2537187"/>
            <a:ext cx="2520280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954682" y="4502537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445386" y="4502537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pSp>
        <p:nvGrpSpPr>
          <p:cNvPr id="63" name="Window" descr="&lt;SmartSettings&gt;&lt;SmartResize enabled=&quot;True&quot; minWidth=&quot;60&quot; minHeight=&quot;3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987810" y="2397230"/>
            <a:ext cx="4815005" cy="2480809"/>
            <a:chOff x="595685" y="1261242"/>
            <a:chExt cx="6668463" cy="4352543"/>
          </a:xfrm>
        </p:grpSpPr>
        <p:sp>
          <p:nvSpPr>
            <p:cNvPr id="64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678362"/>
              <a:ext cx="6668463" cy="393542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595686" y="1261242"/>
              <a:ext cx="6668459" cy="41711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6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972089" y="1386244"/>
              <a:ext cx="136312" cy="167115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524984"/>
              </p:ext>
            </p:extLst>
          </p:nvPr>
        </p:nvGraphicFramePr>
        <p:xfrm>
          <a:off x="2096118" y="2993724"/>
          <a:ext cx="4594239" cy="127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483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659062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355378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사용일자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    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987"/>
                  </a:ext>
                </a:extLst>
              </a:tr>
            </a:tbl>
          </a:graphicData>
        </a:graphic>
      </p:graphicFrame>
      <p:sp>
        <p:nvSpPr>
          <p:cNvPr id="70" name="직사각형 69"/>
          <p:cNvSpPr/>
          <p:nvPr/>
        </p:nvSpPr>
        <p:spPr>
          <a:xfrm>
            <a:off x="2096118" y="2698932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운행일지 등록</a:t>
            </a:r>
            <a:endParaRPr lang="en-US" altLang="ko-KR" sz="10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954682" y="4502537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삭제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4445386" y="4502537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048704" y="3046366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2022.06.10</a:t>
            </a:r>
          </a:p>
        </p:txBody>
      </p:sp>
      <p:sp>
        <p:nvSpPr>
          <p:cNvPr id="75" name="Calendar"/>
          <p:cNvSpPr>
            <a:spLocks noChangeAspect="1" noEditPoints="1"/>
          </p:cNvSpPr>
          <p:nvPr/>
        </p:nvSpPr>
        <p:spPr bwMode="auto">
          <a:xfrm>
            <a:off x="4137153" y="3047426"/>
            <a:ext cx="180000" cy="180000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044164" y="3389729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출퇴근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047396" y="3714570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상암사옥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044163" y="4016855"/>
            <a:ext cx="1036585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용산사옥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425904" y="3389924"/>
            <a:ext cx="1224449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425904" y="3703709"/>
            <a:ext cx="828000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160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5427452" y="4026487"/>
            <a:ext cx="828000" cy="17980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170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3463978" y="4505537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</a:t>
            </a:r>
          </a:p>
        </p:txBody>
      </p:sp>
      <p:sp>
        <p:nvSpPr>
          <p:cNvPr id="48" name="타원 47"/>
          <p:cNvSpPr/>
          <p:nvPr/>
        </p:nvSpPr>
        <p:spPr>
          <a:xfrm>
            <a:off x="3359841" y="4423205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911676" y="4423205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4396636" y="4423205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449490"/>
              </p:ext>
            </p:extLst>
          </p:nvPr>
        </p:nvGraphicFramePr>
        <p:xfrm>
          <a:off x="2371735" y="5422455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Arrow Down" descr="&lt;SmartSettings&gt;&lt;SmartResize anchorLeft=&quot;None&quot; anchorTop=&quot;None&quot; anchorRight=&quot;Absolute&quot; anchorBottom=&quot;None&quot; /&gt;&lt;/SmartSettings&gt;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 flipH="1">
            <a:off x="3971392" y="3450731"/>
            <a:ext cx="40113" cy="7199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solidFill>
            <a:srgbClr val="FFFFFF"/>
          </a:solidFill>
          <a:ln w="6350" cap="sq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2488114" y="5424699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정보가 수정되었습니다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2928675" y="6000736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11" name="타원 110"/>
          <p:cNvSpPr/>
          <p:nvPr/>
        </p:nvSpPr>
        <p:spPr>
          <a:xfrm>
            <a:off x="2386182" y="5407787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8" name="꺾인 연결선 7"/>
          <p:cNvCxnSpPr>
            <a:endCxn id="102" idx="0"/>
          </p:cNvCxnSpPr>
          <p:nvPr/>
        </p:nvCxnSpPr>
        <p:spPr>
          <a:xfrm rot="5400000">
            <a:off x="3061093" y="4786627"/>
            <a:ext cx="735632" cy="5405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4149712" y="5419936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정보를 삭제하시겠습니까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4365829" y="5995973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14" name="타원 113"/>
          <p:cNvSpPr/>
          <p:nvPr/>
        </p:nvSpPr>
        <p:spPr>
          <a:xfrm>
            <a:off x="4047780" y="5403024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2-1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4859052" y="5990429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cxnSp>
        <p:nvCxnSpPr>
          <p:cNvPr id="15" name="꺾인 연결선 14"/>
          <p:cNvCxnSpPr>
            <a:stCxn id="72" idx="2"/>
            <a:endCxn id="112" idx="0"/>
          </p:cNvCxnSpPr>
          <p:nvPr/>
        </p:nvCxnSpPr>
        <p:spPr>
          <a:xfrm rot="16200000" flipH="1">
            <a:off x="4135000" y="4734686"/>
            <a:ext cx="730868" cy="6396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832446" y="5379193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 err="1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도작지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Km</a:t>
            </a:r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출발지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Km</a:t>
            </a:r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보다 작을 수 없습니다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273007" y="595523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91" name="타원 90"/>
          <p:cNvSpPr/>
          <p:nvPr/>
        </p:nvSpPr>
        <p:spPr>
          <a:xfrm>
            <a:off x="730513" y="536228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1-2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-660890" y="5362280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숫자만 입력 가능합니다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-220329" y="5938317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94" name="타원 93"/>
          <p:cNvSpPr/>
          <p:nvPr/>
        </p:nvSpPr>
        <p:spPr>
          <a:xfrm>
            <a:off x="-762823" y="5345367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4-1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95" name="꺾인 연결선 94"/>
          <p:cNvCxnSpPr>
            <a:stCxn id="80" idx="2"/>
            <a:endCxn id="92" idx="0"/>
          </p:cNvCxnSpPr>
          <p:nvPr/>
        </p:nvCxnSpPr>
        <p:spPr>
          <a:xfrm rot="5400000">
            <a:off x="2185393" y="1707769"/>
            <a:ext cx="1478766" cy="5830256"/>
          </a:xfrm>
          <a:prstGeom prst="bentConnector3">
            <a:avLst>
              <a:gd name="adj1" fmla="val 303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/>
          <p:cNvSpPr/>
          <p:nvPr/>
        </p:nvSpPr>
        <p:spPr>
          <a:xfrm>
            <a:off x="5303577" y="3729331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5292843" y="404980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-766698" y="5545965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5-1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043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35677"/>
              </p:ext>
            </p:extLst>
          </p:nvPr>
        </p:nvGraphicFramePr>
        <p:xfrm>
          <a:off x="7619846" y="520982"/>
          <a:ext cx="2286153" cy="3420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차량관리자가 차량이용자와 차량을 등록하여 매칭하는 페이지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차량관리자로 지정된 인원만 차량등록 메뉴 노출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2depth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영역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타이틀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영억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 시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건의 데이터만 리스트로 출력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- 10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건이 넘는 데이터는 페이지로 처리 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행을 클릭 시 차량정보를 수정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삭제할 수 있는 팝업 생성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검색조건</a:t>
                      </a:r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체크박스</a:t>
                      </a:r>
                      <a:endParaRPr lang="en-US" altLang="ko-KR" sz="700" b="0" u="none" dirty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700" b="0" u="none" dirty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default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차량번호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indent="0" latinLnBrk="1">
                        <a:buFontTx/>
                        <a:buChar char="-"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입력 영역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검색조건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&amp;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검색어로 정보 조회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기록을 등록하는 팝업이 생성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295461"/>
                  </a:ext>
                </a:extLst>
              </a:tr>
              <a:tr h="281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운행일지 다운로드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조회된 데이터영역의 정보를 다운로드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666583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1274590" y="1343823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2366045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챠량관리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29" name="표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943552"/>
              </p:ext>
            </p:extLst>
          </p:nvPr>
        </p:nvGraphicFramePr>
        <p:xfrm>
          <a:off x="1364020" y="2384483"/>
          <a:ext cx="6050941" cy="14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2022.04.01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2022.03.01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3333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MVNO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  <p:sp>
        <p:nvSpPr>
          <p:cNvPr id="141" name="직사각형 140"/>
          <p:cNvSpPr/>
          <p:nvPr/>
        </p:nvSpPr>
        <p:spPr>
          <a:xfrm>
            <a:off x="5867400" y="1805621"/>
            <a:ext cx="1560354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4995025" y="1805621"/>
            <a:ext cx="828000" cy="180000"/>
            <a:chOff x="4704081" y="1757711"/>
            <a:chExt cx="828000" cy="180000"/>
          </a:xfrm>
        </p:grpSpPr>
        <p:sp>
          <p:nvSpPr>
            <p:cNvPr id="14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F59A34A-659F-4BCB-AE6E-BE4854C8F87F}"/>
                </a:ext>
              </a:extLst>
            </p:cNvPr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5379041" y="1845127"/>
              <a:ext cx="73294" cy="30958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solidFill>
              <a:srgbClr val="FFFFFF"/>
            </a:solidFill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700" b="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704081" y="1757711"/>
              <a:ext cx="828000" cy="18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차량번호</a:t>
              </a:r>
            </a:p>
          </p:txBody>
        </p:sp>
      </p:grpSp>
      <p:sp>
        <p:nvSpPr>
          <p:cNvPr id="146" name="Search"/>
          <p:cNvSpPr>
            <a:spLocks noChangeAspect="1" noEditPoints="1"/>
          </p:cNvSpPr>
          <p:nvPr/>
        </p:nvSpPr>
        <p:spPr bwMode="auto">
          <a:xfrm>
            <a:off x="7231861" y="1824184"/>
            <a:ext cx="1397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0" name="Button"/>
          <p:cNvSpPr>
            <a:spLocks/>
          </p:cNvSpPr>
          <p:nvPr/>
        </p:nvSpPr>
        <p:spPr bwMode="auto">
          <a:xfrm>
            <a:off x="5867400" y="2087600"/>
            <a:ext cx="5607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51" name="Button"/>
          <p:cNvSpPr>
            <a:spLocks/>
          </p:cNvSpPr>
          <p:nvPr/>
        </p:nvSpPr>
        <p:spPr bwMode="auto">
          <a:xfrm>
            <a:off x="6527733" y="2088811"/>
            <a:ext cx="7933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Excel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5" name="타원 34"/>
          <p:cNvSpPr/>
          <p:nvPr/>
        </p:nvSpPr>
        <p:spPr>
          <a:xfrm>
            <a:off x="5763005" y="201818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7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6506375" y="1998002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8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4885346" y="176242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5817414" y="1740296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269565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57" name="타원 56"/>
          <p:cNvSpPr/>
          <p:nvPr/>
        </p:nvSpPr>
        <p:spPr>
          <a:xfrm>
            <a:off x="116412" y="1855013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1274590" y="2384482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213393"/>
              </p:ext>
            </p:extLst>
          </p:nvPr>
        </p:nvGraphicFramePr>
        <p:xfrm>
          <a:off x="2476222" y="3985154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1" name="그룹 60"/>
          <p:cNvGrpSpPr/>
          <p:nvPr/>
        </p:nvGrpSpPr>
        <p:grpSpPr>
          <a:xfrm>
            <a:off x="6408762" y="5103337"/>
            <a:ext cx="892949" cy="886140"/>
            <a:chOff x="4015772" y="2577498"/>
            <a:chExt cx="727150" cy="886140"/>
          </a:xfrm>
        </p:grpSpPr>
        <p:grpSp>
          <p:nvGrpSpPr>
            <p:cNvPr id="62" name="그룹 61"/>
            <p:cNvGrpSpPr/>
            <p:nvPr/>
          </p:nvGrpSpPr>
          <p:grpSpPr>
            <a:xfrm>
              <a:off x="4015772" y="2577498"/>
              <a:ext cx="727150" cy="886140"/>
              <a:chOff x="3518214" y="3705736"/>
              <a:chExt cx="727150" cy="886140"/>
            </a:xfrm>
          </p:grpSpPr>
          <p:sp>
            <p:nvSpPr>
              <p:cNvPr id="64" name="Text Box"/>
              <p:cNvSpPr/>
              <p:nvPr/>
            </p:nvSpPr>
            <p:spPr>
              <a:xfrm>
                <a:off x="3518214" y="3705736"/>
                <a:ext cx="727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차량번호</a:t>
                </a:r>
                <a:endParaRPr lang="en-US" sz="8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Arrow Down" descr="&lt;SmartSettings&gt;&lt;SmartResize anchorLeft=&quot;None&quot; anchorTop=&quot;None&quot; anchorRight=&quot;Absolute&quot; anchorBottom=&quot;None&quot; /&gt;&lt;/SmartSettings&gt;"/>
              <p:cNvSpPr>
                <a:spLocks noChangeAspect="1"/>
              </p:cNvSpPr>
              <p:nvPr>
                <p:custDataLst>
                  <p:tags r:id="rId1"/>
                </p:custDataLst>
              </p:nvPr>
            </p:nvSpPr>
            <p:spPr bwMode="auto">
              <a:xfrm flipH="1">
                <a:off x="4142974" y="3775165"/>
                <a:ext cx="32665" cy="71999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solidFill>
                <a:srgbClr val="FFFFFF"/>
              </a:solidFill>
              <a:ln w="6350" cap="sq">
                <a:solidFill>
                  <a:schemeClr val="bg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Text Box"/>
              <p:cNvSpPr/>
              <p:nvPr/>
            </p:nvSpPr>
            <p:spPr>
              <a:xfrm>
                <a:off x="3518214" y="3935286"/>
                <a:ext cx="727150" cy="6565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000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차량번호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소속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  <a:cs typeface="Segoe UI" panose="020B0502040204020203" pitchFamily="34" charset="0"/>
                  </a:rPr>
                  <a:t>이용자</a:t>
                </a:r>
                <a:endParaRPr lang="en-US" altLang="ko-KR" sz="800" b="1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3" name="Text Box"/>
            <p:cNvSpPr/>
            <p:nvPr/>
          </p:nvSpPr>
          <p:spPr>
            <a:xfrm>
              <a:off x="4020396" y="2839562"/>
              <a:ext cx="722526" cy="225703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2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67" name="꺾인 연결선 66"/>
          <p:cNvCxnSpPr>
            <a:stCxn id="145" idx="2"/>
            <a:endCxn id="64" idx="0"/>
          </p:cNvCxnSpPr>
          <p:nvPr/>
        </p:nvCxnSpPr>
        <p:spPr>
          <a:xfrm rot="16200000" flipH="1">
            <a:off x="4573273" y="2821373"/>
            <a:ext cx="3117716" cy="14462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7093472" y="1742856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328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034016"/>
              </p:ext>
            </p:extLst>
          </p:nvPr>
        </p:nvGraphicFramePr>
        <p:xfrm>
          <a:off x="7619846" y="520982"/>
          <a:ext cx="2286153" cy="5194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정보와 이용자를 등록하는 페이지 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필수정보값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미입력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시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토스트팝업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생성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차고지</a:t>
                      </a: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 삭제</a:t>
                      </a:r>
                      <a:endParaRPr lang="en-US" altLang="ko-KR" sz="700" b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최초 등록 시 차량번호 수정 불가 안내 팝업 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2depth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영역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타이틀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영억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 조직도 팝업 생성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관리자설정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조직관리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권한관리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조직도 버튼 클릭 시 팝업과 동일한 팝업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설정한 내용 그대로 저장 및 적용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 완료 안내 토스트 팝업 띄움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설정한 내용 그대로 저장 및 적용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 완료 안내 토스트 팝업 띄움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772949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정보저장 후 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 종료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버튼클릭 시</a:t>
                      </a:r>
                      <a:r>
                        <a:rPr lang="en-US" altLang="ko-KR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023675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4-2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필수정보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누락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팝업 종료 후 입력페이지로 이동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679058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86753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–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셀렉트버튼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유종을 선택하는 선택 창 생성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 선택 시 해당 정보 지정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62955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6-1</a:t>
                      </a:r>
                      <a:endParaRPr lang="ko-KR" altLang="en-US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차량번호가 중복일 경우 중복 안내</a:t>
                      </a:r>
                      <a:b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중복된 차량정보가 입력되면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입력박스 테두리가 붉은색으로 변경되고 안내 멘트가 하단에 </a:t>
                      </a:r>
                      <a:r>
                        <a:rPr lang="ko-KR" altLang="en-US" sz="700" b="0" baseline="0" dirty="0" err="1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보여짐</a:t>
                      </a:r>
                      <a:b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중복된 차량번호가 존재합니다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차량번호를 확인해주시기 바랍니다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616971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20166" y="276733"/>
            <a:ext cx="2520280" cy="237470"/>
          </a:xfrm>
        </p:spPr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 페이지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7820" y="274544"/>
            <a:ext cx="17075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 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챠량관리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0776" y="592561"/>
            <a:ext cx="7510473" cy="5636634"/>
            <a:chOff x="50776" y="592561"/>
            <a:chExt cx="7510473" cy="5636634"/>
          </a:xfrm>
        </p:grpSpPr>
        <p:grpSp>
          <p:nvGrpSpPr>
            <p:cNvPr id="4" name="그룹 3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1" name="직사각형 10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4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TextBox 17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6" name="직사각형 5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43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44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5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466626"/>
              </p:ext>
            </p:extLst>
          </p:nvPr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cxnSp>
        <p:nvCxnSpPr>
          <p:cNvPr id="96" name="직선 연결선 9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</a:t>
            </a:r>
          </a:p>
        </p:txBody>
      </p:sp>
      <p:cxnSp>
        <p:nvCxnSpPr>
          <p:cNvPr id="98" name="직선 연결선 97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/>
          <p:cNvSpPr/>
          <p:nvPr/>
        </p:nvSpPr>
        <p:spPr>
          <a:xfrm>
            <a:off x="1274591" y="1343824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24190"/>
              </p:ext>
            </p:extLst>
          </p:nvPr>
        </p:nvGraphicFramePr>
        <p:xfrm>
          <a:off x="1366907" y="1836269"/>
          <a:ext cx="6081298" cy="159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310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872386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794086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987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보험연령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22343"/>
                  </a:ext>
                </a:extLst>
              </a:tr>
            </a:tbl>
          </a:graphicData>
        </a:graphic>
      </p:graphicFrame>
      <p:sp>
        <p:nvSpPr>
          <p:cNvPr id="106" name="직사각형 105"/>
          <p:cNvSpPr/>
          <p:nvPr/>
        </p:nvSpPr>
        <p:spPr>
          <a:xfrm>
            <a:off x="2581771" y="2209956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1111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2581771" y="2517532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그랜져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5771800" y="2530378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111111111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2581771" y="3153270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2581771" y="1888619"/>
            <a:ext cx="154306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2581771" y="2845134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휘발유               ∨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771800" y="2216109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2020</a:t>
            </a:r>
          </a:p>
        </p:txBody>
      </p:sp>
      <p:sp>
        <p:nvSpPr>
          <p:cNvPr id="114" name="직사각형 113"/>
          <p:cNvSpPr/>
          <p:nvPr/>
        </p:nvSpPr>
        <p:spPr>
          <a:xfrm>
            <a:off x="5771800" y="2864547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업무용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618356" y="2246934"/>
            <a:ext cx="10608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10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1111</a:t>
            </a:r>
            <a:endParaRPr lang="ko-KR" altLang="en-US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631264" y="2571846"/>
            <a:ext cx="10608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그랜져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754011" y="2232054"/>
            <a:ext cx="10608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2020</a:t>
            </a:r>
            <a:endParaRPr lang="ko-KR" altLang="en-US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754011" y="2886743"/>
            <a:ext cx="106084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업무용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3768480" y="3546812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4259184" y="3546812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4220352" y="1911399"/>
            <a:ext cx="491160" cy="1648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sp>
        <p:nvSpPr>
          <p:cNvPr id="39" name="타원 38"/>
          <p:cNvSpPr/>
          <p:nvPr/>
        </p:nvSpPr>
        <p:spPr>
          <a:xfrm>
            <a:off x="49655" y="1849702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타원 99"/>
          <p:cNvSpPr/>
          <p:nvPr/>
        </p:nvSpPr>
        <p:spPr>
          <a:xfrm>
            <a:off x="3700326" y="343865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0" name="타원 109"/>
          <p:cNvSpPr/>
          <p:nvPr/>
        </p:nvSpPr>
        <p:spPr>
          <a:xfrm>
            <a:off x="4200171" y="343865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800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9" name="꺾인 연결선 8"/>
          <p:cNvCxnSpPr>
            <a:cxnSpLocks/>
            <a:stCxn id="123" idx="2"/>
            <a:endCxn id="156" idx="0"/>
          </p:cNvCxnSpPr>
          <p:nvPr/>
        </p:nvCxnSpPr>
        <p:spPr>
          <a:xfrm rot="16200000" flipH="1">
            <a:off x="3150824" y="3391308"/>
            <a:ext cx="3372387" cy="742171"/>
          </a:xfrm>
          <a:prstGeom prst="bentConnector3">
            <a:avLst>
              <a:gd name="adj1" fmla="val 358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타원 153"/>
          <p:cNvSpPr/>
          <p:nvPr/>
        </p:nvSpPr>
        <p:spPr>
          <a:xfrm>
            <a:off x="4082131" y="1904248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2223252" y="5448588"/>
            <a:ext cx="5969701" cy="31104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                                                                                                                                                     </a:t>
            </a:r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2318909" y="5832435"/>
            <a:ext cx="556831" cy="20986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2318909" y="6042302"/>
            <a:ext cx="1466794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endParaRPr lang="en-US" altLang="ko-KR" sz="8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미디어로그</a:t>
            </a:r>
            <a:endParaRPr lang="en-US" altLang="ko-KR" sz="8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ICT</a:t>
            </a:r>
            <a:r>
              <a:rPr lang="ko-KR" altLang="en-US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사업담당</a:t>
            </a:r>
            <a:br>
              <a:rPr lang="en-US" altLang="ko-KR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ㄴ 기업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ㄴ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3706725" y="6042303"/>
            <a:ext cx="80589" cy="2012670"/>
            <a:chOff x="9378354" y="1995790"/>
            <a:chExt cx="80589" cy="4931548"/>
          </a:xfrm>
        </p:grpSpPr>
        <p:sp>
          <p:nvSpPr>
            <p:cNvPr id="160" name="직사각형 159"/>
            <p:cNvSpPr/>
            <p:nvPr/>
          </p:nvSpPr>
          <p:spPr>
            <a:xfrm>
              <a:off x="9378354" y="1995790"/>
              <a:ext cx="79312" cy="4931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62" name="1/2 액자 161"/>
          <p:cNvSpPr/>
          <p:nvPr/>
        </p:nvSpPr>
        <p:spPr>
          <a:xfrm rot="8100000" flipV="1">
            <a:off x="3721562" y="6059890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3" name="1/2 액자 162"/>
          <p:cNvSpPr/>
          <p:nvPr/>
        </p:nvSpPr>
        <p:spPr>
          <a:xfrm rot="13500000">
            <a:off x="3721562" y="7989771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787314" y="6044370"/>
            <a:ext cx="1999566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홍길동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김기동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이금동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김철수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과장</a:t>
            </a:r>
          </a:p>
        </p:txBody>
      </p:sp>
      <p:grpSp>
        <p:nvGrpSpPr>
          <p:cNvPr id="165" name="그룹 164"/>
          <p:cNvGrpSpPr/>
          <p:nvPr/>
        </p:nvGrpSpPr>
        <p:grpSpPr>
          <a:xfrm>
            <a:off x="5706291" y="6044371"/>
            <a:ext cx="80589" cy="2012669"/>
            <a:chOff x="9378354" y="1995790"/>
            <a:chExt cx="80589" cy="4931545"/>
          </a:xfrm>
        </p:grpSpPr>
        <p:sp>
          <p:nvSpPr>
            <p:cNvPr id="166" name="직사각형 165"/>
            <p:cNvSpPr/>
            <p:nvPr/>
          </p:nvSpPr>
          <p:spPr>
            <a:xfrm>
              <a:off x="9378354" y="1995790"/>
              <a:ext cx="79312" cy="49315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68" name="1/2 액자 167"/>
          <p:cNvSpPr/>
          <p:nvPr/>
        </p:nvSpPr>
        <p:spPr>
          <a:xfrm rot="13500000">
            <a:off x="5723258" y="7991839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9" name="1/2 액자 168"/>
          <p:cNvSpPr/>
          <p:nvPr/>
        </p:nvSpPr>
        <p:spPr>
          <a:xfrm rot="8100000" flipV="1">
            <a:off x="5723259" y="6066607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3787313" y="6044370"/>
            <a:ext cx="1918977" cy="21497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명을 입력하세요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71" name="Picture 3" descr="C:\Users\user\Downloads\if_multimedia-07_284982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057" y="6062056"/>
            <a:ext cx="174497" cy="17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93" y="6312460"/>
            <a:ext cx="101461" cy="11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93" y="6496586"/>
            <a:ext cx="101461" cy="11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93" y="6670854"/>
            <a:ext cx="101461" cy="11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93" y="6849200"/>
            <a:ext cx="101461" cy="11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464" y="8089494"/>
            <a:ext cx="464442" cy="21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907" y="8106303"/>
            <a:ext cx="588954" cy="17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8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52" y="8104868"/>
            <a:ext cx="1501768" cy="181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9" name="Text Box"/>
          <p:cNvSpPr/>
          <p:nvPr/>
        </p:nvSpPr>
        <p:spPr>
          <a:xfrm>
            <a:off x="2343975" y="6557885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6108479" y="6036502"/>
            <a:ext cx="1999566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경영지원팀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8027456" y="6036503"/>
            <a:ext cx="80589" cy="2012669"/>
            <a:chOff x="9378354" y="1995790"/>
            <a:chExt cx="80589" cy="4931545"/>
          </a:xfrm>
        </p:grpSpPr>
        <p:sp>
          <p:nvSpPr>
            <p:cNvPr id="182" name="직사각형 181"/>
            <p:cNvSpPr/>
            <p:nvPr/>
          </p:nvSpPr>
          <p:spPr>
            <a:xfrm>
              <a:off x="9378354" y="1995790"/>
              <a:ext cx="79312" cy="49315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84" name="1/2 액자 183"/>
          <p:cNvSpPr/>
          <p:nvPr/>
        </p:nvSpPr>
        <p:spPr>
          <a:xfrm rot="13500000">
            <a:off x="8044423" y="7983971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5" name="1/2 액자 184"/>
          <p:cNvSpPr/>
          <p:nvPr/>
        </p:nvSpPr>
        <p:spPr>
          <a:xfrm rot="8100000" flipV="1">
            <a:off x="8044424" y="6058739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86" name="그림 1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4838" y="6718101"/>
            <a:ext cx="303449" cy="598468"/>
          </a:xfrm>
          <a:prstGeom prst="rect">
            <a:avLst/>
          </a:prstGeom>
        </p:spPr>
      </p:pic>
      <p:sp>
        <p:nvSpPr>
          <p:cNvPr id="187" name="직사각형 186"/>
          <p:cNvSpPr/>
          <p:nvPr/>
        </p:nvSpPr>
        <p:spPr>
          <a:xfrm>
            <a:off x="5956159" y="5805669"/>
            <a:ext cx="6976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차량이용자</a:t>
            </a:r>
            <a:endParaRPr lang="ko-KR" altLang="en-US" sz="900" dirty="0"/>
          </a:p>
        </p:txBody>
      </p:sp>
      <p:sp>
        <p:nvSpPr>
          <p:cNvPr id="188" name="직사각형 187"/>
          <p:cNvSpPr/>
          <p:nvPr/>
        </p:nvSpPr>
        <p:spPr>
          <a:xfrm>
            <a:off x="5110577" y="830968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89" name="직사각형 188"/>
          <p:cNvSpPr/>
          <p:nvPr/>
        </p:nvSpPr>
        <p:spPr>
          <a:xfrm>
            <a:off x="5603800" y="8304136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190" name="타원 189"/>
          <p:cNvSpPr/>
          <p:nvPr/>
        </p:nvSpPr>
        <p:spPr>
          <a:xfrm>
            <a:off x="5070632" y="8180682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3-1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1" name="타원 190"/>
          <p:cNvSpPr/>
          <p:nvPr/>
        </p:nvSpPr>
        <p:spPr>
          <a:xfrm>
            <a:off x="5577167" y="816796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3-2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2" name="Text Box"/>
          <p:cNvSpPr/>
          <p:nvPr/>
        </p:nvSpPr>
        <p:spPr>
          <a:xfrm>
            <a:off x="3844811" y="6301213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93" name="Text Box"/>
          <p:cNvSpPr/>
          <p:nvPr/>
        </p:nvSpPr>
        <p:spPr>
          <a:xfrm>
            <a:off x="6157529" y="6122189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817471" y="4078052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차량번호는</a:t>
            </a:r>
            <a:r>
              <a:rPr lang="ko-KR" altLang="en-US" sz="907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등록 후 수정이 불가 합니다</a:t>
            </a:r>
            <a:r>
              <a:rPr lang="en-US" altLang="ko-KR" sz="907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907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등록하시겠습니까</a:t>
            </a:r>
            <a:r>
              <a:rPr lang="en-US" altLang="ko-KR" sz="907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907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1058037" y="4771032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97" name="타원 196"/>
          <p:cNvSpPr/>
          <p:nvPr/>
        </p:nvSpPr>
        <p:spPr>
          <a:xfrm>
            <a:off x="715538" y="406113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4-1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816432" y="5259513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필수 </a:t>
            </a:r>
            <a:r>
              <a:rPr lang="ko-KR" altLang="en-US" sz="907" dirty="0" err="1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입력값이</a:t>
            </a:r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누락되었습니다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1265306" y="583555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200" name="타원 199"/>
          <p:cNvSpPr/>
          <p:nvPr/>
        </p:nvSpPr>
        <p:spPr>
          <a:xfrm>
            <a:off x="714499" y="524260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4-2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202" name="꺾인 연결선 201"/>
          <p:cNvCxnSpPr>
            <a:stCxn id="121" idx="1"/>
            <a:endCxn id="195" idx="1"/>
          </p:cNvCxnSpPr>
          <p:nvPr/>
        </p:nvCxnSpPr>
        <p:spPr>
          <a:xfrm rot="10800000" flipV="1">
            <a:off x="817472" y="3640078"/>
            <a:ext cx="2951009" cy="906166"/>
          </a:xfrm>
          <a:prstGeom prst="bentConnector3">
            <a:avLst>
              <a:gd name="adj1" fmla="val 1077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121" idx="1"/>
            <a:endCxn id="198" idx="1"/>
          </p:cNvCxnSpPr>
          <p:nvPr/>
        </p:nvCxnSpPr>
        <p:spPr>
          <a:xfrm rot="10800000" flipV="1">
            <a:off x="816432" y="3640077"/>
            <a:ext cx="2952048" cy="2087627"/>
          </a:xfrm>
          <a:prstGeom prst="bentConnector3">
            <a:avLst>
              <a:gd name="adj1" fmla="val 1077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타원 203"/>
          <p:cNvSpPr/>
          <p:nvPr/>
        </p:nvSpPr>
        <p:spPr>
          <a:xfrm>
            <a:off x="1288312" y="186319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536949" y="4771199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F14F30-93D9-65D3-479B-0DC669C81ED0}"/>
              </a:ext>
            </a:extLst>
          </p:cNvPr>
          <p:cNvSpPr/>
          <p:nvPr/>
        </p:nvSpPr>
        <p:spPr>
          <a:xfrm>
            <a:off x="93817" y="2623613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휘발유               ∨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D6CBFC-12C7-E98A-89F5-25BAEEE68D28}"/>
              </a:ext>
            </a:extLst>
          </p:cNvPr>
          <p:cNvSpPr/>
          <p:nvPr/>
        </p:nvSpPr>
        <p:spPr>
          <a:xfrm>
            <a:off x="93816" y="2841921"/>
            <a:ext cx="1036585" cy="6903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디젤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LPG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전기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 소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8" name="꺾인 연결선 8">
            <a:extLst>
              <a:ext uri="{FF2B5EF4-FFF2-40B4-BE49-F238E27FC236}">
                <a16:creationId xmlns:a16="http://schemas.microsoft.com/office/drawing/2014/main" id="{077182B7-78E8-A552-33DF-04024DA00349}"/>
              </a:ext>
            </a:extLst>
          </p:cNvPr>
          <p:cNvCxnSpPr>
            <a:cxnSpLocks/>
            <a:stCxn id="112" idx="2"/>
            <a:endCxn id="7" idx="3"/>
          </p:cNvCxnSpPr>
          <p:nvPr/>
        </p:nvCxnSpPr>
        <p:spPr>
          <a:xfrm rot="5400000">
            <a:off x="2052262" y="2139274"/>
            <a:ext cx="125942" cy="19696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55E429A0-6E9D-E85E-CD1D-9093138F9ABD}"/>
              </a:ext>
            </a:extLst>
          </p:cNvPr>
          <p:cNvSpPr/>
          <p:nvPr/>
        </p:nvSpPr>
        <p:spPr>
          <a:xfrm>
            <a:off x="1548673" y="223205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6-1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D47F11-8F25-3B21-8CFF-52D8AB97287A}"/>
              </a:ext>
            </a:extLst>
          </p:cNvPr>
          <p:cNvSpPr txBox="1"/>
          <p:nvPr/>
        </p:nvSpPr>
        <p:spPr>
          <a:xfrm>
            <a:off x="2506079" y="2354277"/>
            <a:ext cx="496252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0" baseline="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*</a:t>
            </a:r>
            <a:r>
              <a:rPr lang="ko-KR" altLang="en-US" sz="600" b="0" baseline="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중복된 차량번호가 존재합니다</a:t>
            </a:r>
            <a:r>
              <a:rPr lang="en-US" altLang="ko-KR" sz="600" b="0" baseline="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600" b="0" baseline="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차량번호를 확인해주시기 바랍니다</a:t>
            </a:r>
            <a:r>
              <a:rPr lang="en-US" altLang="ko-KR" sz="600" b="0" baseline="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C2A234-07E9-6046-7860-04587CFE7D39}"/>
              </a:ext>
            </a:extLst>
          </p:cNvPr>
          <p:cNvSpPr/>
          <p:nvPr/>
        </p:nvSpPr>
        <p:spPr>
          <a:xfrm>
            <a:off x="8877301" y="6591300"/>
            <a:ext cx="10287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 0.7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11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57758"/>
              </p:ext>
            </p:extLst>
          </p:nvPr>
        </p:nvGraphicFramePr>
        <p:xfrm>
          <a:off x="7619846" y="520982"/>
          <a:ext cx="2286153" cy="3749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등록된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차량과 이용자 정보 수정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 페이지의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차량정보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클릭 시 수정 팝업 생성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이용자 변경 이력 관리 버튼</a:t>
                      </a: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 </a:t>
                      </a:r>
                      <a:r>
                        <a:rPr lang="ko-KR" altLang="en-US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추가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등록된 차량 정보는 삭제 불가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 조직도 팝업 생성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관리자설정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조직관리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권한관리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조직도 버튼 클릭 시 팝업과 동일한 팝업 생성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수정된 정보 내용을 저장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수정완료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</a:t>
                      </a:r>
                      <a:r>
                        <a:rPr lang="en-US" altLang="ko-KR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strike="sngStrike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등록된 정보 삭제</a:t>
                      </a:r>
                      <a:endParaRPr lang="en-US" altLang="ko-KR" sz="700" b="0" strike="sngStrike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3-1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삭제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정보 삭제 및 수정 팝업 종료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삭제 취소 및 안내 토스트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차량번호는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수정 시 </a:t>
                      </a:r>
                      <a:r>
                        <a:rPr lang="en-US" altLang="ko-KR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Dimm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처리되어 수정불가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2997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 이력 확인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차량정보 수정 이력 팝업 생성</a:t>
                      </a:r>
                      <a:endParaRPr lang="en-US" altLang="ko-KR" sz="700" b="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4520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2366045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챠량관리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29" name="표 128"/>
          <p:cNvGraphicFramePr>
            <a:graphicFrameLocks noGrp="1"/>
          </p:cNvGraphicFramePr>
          <p:nvPr/>
        </p:nvGraphicFramePr>
        <p:xfrm>
          <a:off x="1364020" y="2384483"/>
          <a:ext cx="6050941" cy="14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2022.04.01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2022.03.01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3333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MVNO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  <p:sp>
        <p:nvSpPr>
          <p:cNvPr id="141" name="직사각형 140"/>
          <p:cNvSpPr/>
          <p:nvPr/>
        </p:nvSpPr>
        <p:spPr>
          <a:xfrm>
            <a:off x="5867400" y="1805621"/>
            <a:ext cx="1560354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4995025" y="1805621"/>
            <a:ext cx="828000" cy="180000"/>
            <a:chOff x="4704081" y="1757711"/>
            <a:chExt cx="828000" cy="180000"/>
          </a:xfrm>
        </p:grpSpPr>
        <p:sp>
          <p:nvSpPr>
            <p:cNvPr id="14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F59A34A-659F-4BCB-AE6E-BE4854C8F87F}"/>
                </a:ext>
              </a:extLst>
            </p:cNvPr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5379041" y="1845127"/>
              <a:ext cx="73294" cy="30958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solidFill>
              <a:srgbClr val="FFFFFF"/>
            </a:solidFill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700" b="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704081" y="1757711"/>
              <a:ext cx="828000" cy="18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차량번호</a:t>
              </a:r>
            </a:p>
          </p:txBody>
        </p:sp>
      </p:grpSp>
      <p:sp>
        <p:nvSpPr>
          <p:cNvPr id="146" name="Search"/>
          <p:cNvSpPr>
            <a:spLocks noChangeAspect="1" noEditPoints="1"/>
          </p:cNvSpPr>
          <p:nvPr/>
        </p:nvSpPr>
        <p:spPr bwMode="auto">
          <a:xfrm>
            <a:off x="7231861" y="1824184"/>
            <a:ext cx="1397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0" name="Button"/>
          <p:cNvSpPr>
            <a:spLocks/>
          </p:cNvSpPr>
          <p:nvPr/>
        </p:nvSpPr>
        <p:spPr bwMode="auto">
          <a:xfrm>
            <a:off x="5867400" y="2087600"/>
            <a:ext cx="5607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51" name="Button"/>
          <p:cNvSpPr>
            <a:spLocks/>
          </p:cNvSpPr>
          <p:nvPr/>
        </p:nvSpPr>
        <p:spPr bwMode="auto">
          <a:xfrm>
            <a:off x="6527733" y="2088811"/>
            <a:ext cx="7933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Excel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303817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794521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pSp>
        <p:nvGrpSpPr>
          <p:cNvPr id="46" name="Window" descr="&lt;SmartSettings&gt;&lt;SmartResize enabled=&quot;True&quot; minWidth=&quot;60&quot; minHeight=&quot;3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987810" y="2962495"/>
            <a:ext cx="4815005" cy="2656909"/>
            <a:chOff x="595685" y="1261242"/>
            <a:chExt cx="6668463" cy="4352544"/>
          </a:xfrm>
        </p:grpSpPr>
        <p:sp>
          <p:nvSpPr>
            <p:cNvPr id="4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595685" y="1650716"/>
              <a:ext cx="6668463" cy="39630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8" y="1261242"/>
              <a:ext cx="6668457" cy="389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49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6972089" y="1377959"/>
              <a:ext cx="136312" cy="15603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2096118" y="3264197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차량정보</a:t>
            </a:r>
            <a:r>
              <a:rPr lang="ko-KR" altLang="en-US" sz="10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수정</a:t>
            </a:r>
            <a:endParaRPr lang="en-US" altLang="ko-KR" sz="10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303817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삭제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794521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813113" y="5353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</a:t>
            </a:r>
          </a:p>
        </p:txBody>
      </p:sp>
      <p:sp>
        <p:nvSpPr>
          <p:cNvPr id="68" name="타원 67"/>
          <p:cNvSpPr/>
          <p:nvPr/>
        </p:nvSpPr>
        <p:spPr>
          <a:xfrm>
            <a:off x="3708977" y="527110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4260812" y="527110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4745772" y="5271103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995480"/>
              </p:ext>
            </p:extLst>
          </p:nvPr>
        </p:nvGraphicFramePr>
        <p:xfrm>
          <a:off x="2156809" y="3602345"/>
          <a:ext cx="4493566" cy="159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694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935577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325678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987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보험연령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 변경 이력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22343"/>
                  </a:ext>
                </a:extLst>
              </a:tr>
            </a:tbl>
          </a:graphicData>
        </a:graphic>
      </p:graphicFrame>
      <p:grpSp>
        <p:nvGrpSpPr>
          <p:cNvPr id="73" name="그룹 72"/>
          <p:cNvGrpSpPr/>
          <p:nvPr/>
        </p:nvGrpSpPr>
        <p:grpSpPr>
          <a:xfrm>
            <a:off x="3030852" y="3654695"/>
            <a:ext cx="3387026" cy="1480651"/>
            <a:chOff x="2240950" y="1888619"/>
            <a:chExt cx="3387026" cy="1480651"/>
          </a:xfrm>
        </p:grpSpPr>
        <p:sp>
          <p:nvSpPr>
            <p:cNvPr id="74" name="직사각형 73"/>
            <p:cNvSpPr/>
            <p:nvPr/>
          </p:nvSpPr>
          <p:spPr>
            <a:xfrm>
              <a:off x="2240950" y="2209956"/>
              <a:ext cx="1036585" cy="216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</a:t>
              </a:r>
              <a:r>
                <a:rPr lang="ko-KR" altLang="en-US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허</a:t>
              </a:r>
              <a:r>
                <a:rPr lang="en-US" altLang="ko-KR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1111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240950" y="2517532"/>
              <a:ext cx="1036585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그랜져</a:t>
              </a:r>
              <a:endPara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4591392" y="2530378"/>
              <a:ext cx="1036584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111111111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240950" y="3153270"/>
              <a:ext cx="1036585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endPara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40950" y="1888619"/>
              <a:ext cx="154306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홍길동</a:t>
              </a:r>
              <a:endPara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240950" y="2845134"/>
              <a:ext cx="1036585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화이트</a:t>
              </a:r>
              <a:endPara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4591392" y="2216109"/>
              <a:ext cx="1036584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ko-KR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2020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4591392" y="2864547"/>
              <a:ext cx="1036584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44000" rIns="14400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7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업무용</a:t>
              </a:r>
              <a:endPara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3879531" y="1911399"/>
              <a:ext cx="491160" cy="1648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조직도</a:t>
              </a:r>
            </a:p>
          </p:txBody>
        </p:sp>
        <p:sp>
          <p:nvSpPr>
            <p:cNvPr id="84" name="타원 83"/>
            <p:cNvSpPr/>
            <p:nvPr/>
          </p:nvSpPr>
          <p:spPr>
            <a:xfrm>
              <a:off x="3741310" y="1904248"/>
              <a:ext cx="144000" cy="144000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26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</a:t>
              </a:r>
              <a:endParaRPr lang="ko-KR" altLang="en-US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85" name="직사각형 84"/>
          <p:cNvSpPr/>
          <p:nvPr/>
        </p:nvSpPr>
        <p:spPr>
          <a:xfrm>
            <a:off x="2726361" y="5852340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정보가 수정되었습니다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3166922" y="6428377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88" name="타원 87"/>
          <p:cNvSpPr/>
          <p:nvPr/>
        </p:nvSpPr>
        <p:spPr>
          <a:xfrm>
            <a:off x="2624429" y="5835428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2-1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387959" y="5847577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정보를 삭제하시겠습니까</a:t>
            </a:r>
            <a:r>
              <a:rPr lang="en-US" altLang="ko-KR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604076" y="6423614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92" name="타원 91"/>
          <p:cNvSpPr/>
          <p:nvPr/>
        </p:nvSpPr>
        <p:spPr>
          <a:xfrm>
            <a:off x="4286027" y="5830665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3-1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097299" y="641807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cxnSp>
        <p:nvCxnSpPr>
          <p:cNvPr id="94" name="꺾인 연결선 93"/>
          <p:cNvCxnSpPr>
            <a:stCxn id="67" idx="2"/>
            <a:endCxn id="85" idx="0"/>
          </p:cNvCxnSpPr>
          <p:nvPr/>
        </p:nvCxnSpPr>
        <p:spPr>
          <a:xfrm rot="5400000">
            <a:off x="3561787" y="5375077"/>
            <a:ext cx="312375" cy="6421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52" idx="2"/>
            <a:endCxn id="89" idx="0"/>
          </p:cNvCxnSpPr>
          <p:nvPr/>
        </p:nvCxnSpPr>
        <p:spPr>
          <a:xfrm rot="16200000" flipH="1">
            <a:off x="4638819" y="5427899"/>
            <a:ext cx="310612" cy="5287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/>
          <p:cNvSpPr/>
          <p:nvPr/>
        </p:nvSpPr>
        <p:spPr>
          <a:xfrm>
            <a:off x="2933625" y="4017891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381294" y="4943049"/>
            <a:ext cx="936109" cy="18137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이용자 이력 확인</a:t>
            </a:r>
          </a:p>
        </p:txBody>
      </p:sp>
      <p:sp>
        <p:nvSpPr>
          <p:cNvPr id="97" name="타원 96"/>
          <p:cNvSpPr/>
          <p:nvPr/>
        </p:nvSpPr>
        <p:spPr>
          <a:xfrm>
            <a:off x="5267083" y="4884260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6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216019" y="5694534"/>
            <a:ext cx="1802396" cy="1134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4234561" y="5246531"/>
            <a:ext cx="521128" cy="387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306957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546758"/>
              </p:ext>
            </p:extLst>
          </p:nvPr>
        </p:nvGraphicFramePr>
        <p:xfrm>
          <a:off x="7619846" y="520982"/>
          <a:ext cx="2286153" cy="31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페이지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차량관리자가 차량이용자 변경 이력 정보 노출 </a:t>
                      </a:r>
                      <a:br>
                        <a:rPr lang="en-US" altLang="ko-KR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현재 이용자는 기간이 시작일만 표시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닫기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br>
                        <a:rPr lang="en-US" altLang="ko-KR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팝업을 종료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2997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4520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855987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3209873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챠량관리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차량이용자 변경 이력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129" name="표 128"/>
          <p:cNvGraphicFramePr>
            <a:graphicFrameLocks noGrp="1"/>
          </p:cNvGraphicFramePr>
          <p:nvPr/>
        </p:nvGraphicFramePr>
        <p:xfrm>
          <a:off x="1364020" y="2384483"/>
          <a:ext cx="6050941" cy="14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2022.04.01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2022.03.01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3333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MVNO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  <p:sp>
        <p:nvSpPr>
          <p:cNvPr id="141" name="직사각형 140"/>
          <p:cNvSpPr/>
          <p:nvPr/>
        </p:nvSpPr>
        <p:spPr>
          <a:xfrm>
            <a:off x="5867400" y="1805621"/>
            <a:ext cx="1560354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4995025" y="1805621"/>
            <a:ext cx="828000" cy="180000"/>
            <a:chOff x="4704081" y="1757711"/>
            <a:chExt cx="828000" cy="180000"/>
          </a:xfrm>
        </p:grpSpPr>
        <p:sp>
          <p:nvSpPr>
            <p:cNvPr id="14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F59A34A-659F-4BCB-AE6E-BE4854C8F87F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5379041" y="1845127"/>
              <a:ext cx="73294" cy="30958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solidFill>
              <a:srgbClr val="FFFFFF"/>
            </a:solidFill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700" b="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704081" y="1757711"/>
              <a:ext cx="828000" cy="18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차량번호</a:t>
              </a:r>
            </a:p>
          </p:txBody>
        </p:sp>
      </p:grpSp>
      <p:sp>
        <p:nvSpPr>
          <p:cNvPr id="146" name="Search"/>
          <p:cNvSpPr>
            <a:spLocks noChangeAspect="1" noEditPoints="1"/>
          </p:cNvSpPr>
          <p:nvPr/>
        </p:nvSpPr>
        <p:spPr bwMode="auto">
          <a:xfrm>
            <a:off x="7231861" y="1824184"/>
            <a:ext cx="1397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0" name="Button"/>
          <p:cNvSpPr>
            <a:spLocks/>
          </p:cNvSpPr>
          <p:nvPr/>
        </p:nvSpPr>
        <p:spPr bwMode="auto">
          <a:xfrm>
            <a:off x="5867400" y="2087600"/>
            <a:ext cx="5607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차량등록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51" name="Button"/>
          <p:cNvSpPr>
            <a:spLocks/>
          </p:cNvSpPr>
          <p:nvPr/>
        </p:nvSpPr>
        <p:spPr bwMode="auto">
          <a:xfrm>
            <a:off x="6527733" y="2088811"/>
            <a:ext cx="793392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Excel</a:t>
            </a:r>
            <a:r>
              <a:rPr lang="ko-KR" altLang="en-US" sz="8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다운로드</a:t>
            </a:r>
            <a:endParaRPr lang="en-US" sz="8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50776" y="1534768"/>
          <a:ext cx="1214577" cy="5145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303817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4794521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pSp>
        <p:nvGrpSpPr>
          <p:cNvPr id="46" name="Window" descr="&lt;SmartSettings&gt;&lt;SmartResize enabled=&quot;True&quot; minWidth=&quot;60&quot; minHeight=&quot;3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987810" y="2962495"/>
            <a:ext cx="4815005" cy="2656909"/>
            <a:chOff x="595685" y="1261242"/>
            <a:chExt cx="6668463" cy="4352544"/>
          </a:xfrm>
        </p:grpSpPr>
        <p:sp>
          <p:nvSpPr>
            <p:cNvPr id="47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95685" y="1650716"/>
              <a:ext cx="6668463" cy="39630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95688" y="1261242"/>
              <a:ext cx="6668457" cy="389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49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972089" y="1377959"/>
              <a:ext cx="136312" cy="15603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2096118" y="3264197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차량정보</a:t>
            </a:r>
            <a:r>
              <a:rPr lang="ko-KR" altLang="en-US" sz="100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rPr>
              <a:t> 수정</a:t>
            </a:r>
            <a:endParaRPr lang="en-US" altLang="ko-KR" sz="1000" dirty="0">
              <a:solidFill>
                <a:srgbClr val="5F5F5F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303817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삭제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794521" y="5350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813113" y="535343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수정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918256"/>
              </p:ext>
            </p:extLst>
          </p:nvPr>
        </p:nvGraphicFramePr>
        <p:xfrm>
          <a:off x="2156809" y="3602345"/>
          <a:ext cx="4493566" cy="1592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694">
                  <a:extLst>
                    <a:ext uri="{9D8B030D-6E8A-4147-A177-3AD203B41FA5}">
                      <a16:colId xmlns:a16="http://schemas.microsoft.com/office/drawing/2014/main" val="294919507"/>
                    </a:ext>
                  </a:extLst>
                </a:gridCol>
                <a:gridCol w="935577">
                  <a:extLst>
                    <a:ext uri="{9D8B030D-6E8A-4147-A177-3AD203B41FA5}">
                      <a16:colId xmlns:a16="http://schemas.microsoft.com/office/drawing/2014/main" val="3358794039"/>
                    </a:ext>
                  </a:extLst>
                </a:gridCol>
                <a:gridCol w="1325678">
                  <a:extLst>
                    <a:ext uri="{9D8B030D-6E8A-4147-A177-3AD203B41FA5}">
                      <a16:colId xmlns:a16="http://schemas.microsoft.com/office/drawing/2014/main" val="3403686117"/>
                    </a:ext>
                  </a:extLst>
                </a:gridCol>
              </a:tblGrid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pc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793987"/>
                  </a:ext>
                </a:extLst>
              </a:tr>
              <a:tr h="3184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보험연령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 변경 이력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22343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3030852" y="3976032"/>
            <a:ext cx="1036585" cy="216000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10</a:t>
            </a: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허</a:t>
            </a: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1111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030852" y="4283608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그랜져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381294" y="4296454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111111111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3030852" y="4919346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030852" y="3654695"/>
            <a:ext cx="1543060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030852" y="4611210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화이트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81294" y="3982185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2020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5381294" y="4630623"/>
            <a:ext cx="1036584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업무용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669433" y="3677475"/>
            <a:ext cx="491160" cy="1648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5381294" y="4943049"/>
            <a:ext cx="936109" cy="18137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이용자 이력 확인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281056" y="1633462"/>
            <a:ext cx="6279095" cy="4599653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Window" descr="&lt;SmartSettings&gt;&lt;SmartResize enabled=&quot;True&quot; minWidth=&quot;60&quot; minHeight=&quot;3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532582" y="2406478"/>
            <a:ext cx="5694704" cy="3421898"/>
            <a:chOff x="595685" y="1261242"/>
            <a:chExt cx="6668463" cy="4352544"/>
          </a:xfrm>
        </p:grpSpPr>
        <p:sp>
          <p:nvSpPr>
            <p:cNvPr id="98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595685" y="1650716"/>
              <a:ext cx="6668463" cy="39630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595688" y="1261242"/>
              <a:ext cx="6668457" cy="389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100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972089" y="1377959"/>
              <a:ext cx="136312" cy="156038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26650"/>
              </p:ext>
            </p:extLst>
          </p:nvPr>
        </p:nvGraphicFramePr>
        <p:xfrm>
          <a:off x="1926428" y="3191145"/>
          <a:ext cx="4936079" cy="1865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957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687679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74849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56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967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1998862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70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이용기간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모바일담당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정거장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2022.07.01 ~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318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기술지원담당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2022.05.01 ~ 2022.06.30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18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ICT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김철수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2022.03.01 ~ 2022.04.31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318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2022.01.02 ~ 2022.02.28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3188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MVNO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2021.12.01 ~ 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1714896" y="2828830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이용자 변경 이력</a:t>
            </a:r>
          </a:p>
        </p:txBody>
      </p:sp>
      <p:graphicFrame>
        <p:nvGraphicFramePr>
          <p:cNvPr id="103" name="표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54122"/>
              </p:ext>
            </p:extLst>
          </p:nvPr>
        </p:nvGraphicFramePr>
        <p:xfrm>
          <a:off x="2484061" y="5182399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" name="직사각형 103"/>
          <p:cNvSpPr/>
          <p:nvPr/>
        </p:nvSpPr>
        <p:spPr>
          <a:xfrm>
            <a:off x="4186828" y="5548580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닫기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1789656" y="3245351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6" name="타원 105"/>
          <p:cNvSpPr/>
          <p:nvPr/>
        </p:nvSpPr>
        <p:spPr>
          <a:xfrm>
            <a:off x="4021253" y="5541193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56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985C74-E6BD-3130-D74F-6266C0826C0C}"/>
              </a:ext>
            </a:extLst>
          </p:cNvPr>
          <p:cNvSpPr txBox="1"/>
          <p:nvPr/>
        </p:nvSpPr>
        <p:spPr>
          <a:xfrm>
            <a:off x="630691" y="519224"/>
            <a:ext cx="7754030" cy="248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차량 정비 메뉴 접근 권한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차량 총괄 관리자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마스터 권한으로 전사 모든 차량의 정비 내역 조회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수정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 추가 가능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일반 임직원 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차량 </a:t>
            </a:r>
            <a:r>
              <a:rPr lang="ko-KR" altLang="en-US" sz="1050" b="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운행자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):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본인이 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'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담당자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'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지정된 차량 또는 본인이 예약을 통해 운행한 차량의 정비 페이지만 접근 및 조회 가능</a:t>
            </a:r>
            <a:r>
              <a:rPr lang="en-US" altLang="ko-KR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5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정비 항목 및 알림 설정 권한</a:t>
            </a:r>
            <a:endParaRPr lang="en-US" altLang="ko-KR" sz="105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정비 항목 추가 및 알림 수신 대상 설정은 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'</a:t>
            </a: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차량 관리자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'</a:t>
            </a:r>
            <a:r>
              <a:rPr lang="ko-KR" altLang="en-US" sz="105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 가능</a:t>
            </a:r>
            <a:endParaRPr lang="en-US" altLang="ko-KR" sz="105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5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정비 주기 리셋</a:t>
            </a:r>
            <a:r>
              <a:rPr lang="en-US" altLang="ko-KR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(Reset) </a:t>
            </a:r>
            <a:r>
              <a:rPr lang="ko-KR" altLang="en-US" sz="105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로직</a:t>
            </a:r>
            <a:endParaRPr lang="en-US" altLang="ko-KR" sz="105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신규 정비 내역을 등록할 때 "이 정비 항목의 주기를 초기화(리셋)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하시겠습니까?"라는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체크박스나 로직이 작동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해당 정비가 완료된 시점의 </a:t>
            </a: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주행거리를 기준으로 다음 알림 타깃</a:t>
            </a:r>
            <a:r>
              <a:rPr kumimoji="0" lang="en-US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(80%, 100%)</a:t>
            </a:r>
            <a:r>
              <a:rPr kumimoji="0" lang="ko-KR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재계산되어야 함 </a:t>
            </a:r>
            <a:endParaRPr lang="en-US" altLang="ko-KR" sz="105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113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677303"/>
              </p:ext>
            </p:extLst>
          </p:nvPr>
        </p:nvGraphicFramePr>
        <p:xfrm>
          <a:off x="7619846" y="520982"/>
          <a:ext cx="2286153" cy="36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페이지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등록 시 차량 정비에 추가된 차량 정보가 등록됨 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표의 행을 클릭 시 해당 차량의 관리 페이지가 팝업으로 생성됨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차량운행관리자는 전사 모든 차량 정보가 노출 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차량운행자는 자신이 배정받은 차량 정보만 노출 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담당자명 </a:t>
                      </a: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-&gt;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이용자명으로 변경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2997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4520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855987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3209873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사용자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</a:t>
            </a:r>
          </a:p>
        </p:txBody>
      </p:sp>
      <p:graphicFrame>
        <p:nvGraphicFramePr>
          <p:cNvPr id="129" name="표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985581"/>
              </p:ext>
            </p:extLst>
          </p:nvPr>
        </p:nvGraphicFramePr>
        <p:xfrm>
          <a:off x="1380348" y="2090572"/>
          <a:ext cx="6050941" cy="14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2022.04.01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2022.03.01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3333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2022.01.01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4444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MVNO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김영철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2020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2021.12.01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  <p:sp>
        <p:nvSpPr>
          <p:cNvPr id="141" name="직사각형 140"/>
          <p:cNvSpPr/>
          <p:nvPr/>
        </p:nvSpPr>
        <p:spPr>
          <a:xfrm>
            <a:off x="5867400" y="1805621"/>
            <a:ext cx="1560354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4995025" y="1805621"/>
            <a:ext cx="828000" cy="180000"/>
            <a:chOff x="4704081" y="1757711"/>
            <a:chExt cx="828000" cy="180000"/>
          </a:xfrm>
        </p:grpSpPr>
        <p:sp>
          <p:nvSpPr>
            <p:cNvPr id="14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F59A34A-659F-4BCB-AE6E-BE4854C8F87F}"/>
                </a:ext>
              </a:extLst>
            </p:cNvPr>
            <p:cNvSpPr>
              <a:spLocks noChangeAspect="1"/>
            </p:cNvSpPr>
            <p:nvPr>
              <p:custDataLst>
                <p:tags r:id="rId1"/>
              </p:custDataLst>
            </p:nvPr>
          </p:nvSpPr>
          <p:spPr bwMode="auto">
            <a:xfrm flipH="1">
              <a:off x="5379041" y="1845127"/>
              <a:ext cx="73294" cy="30958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solidFill>
              <a:srgbClr val="FFFFFF"/>
            </a:solidFill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25" tIns="45713" rIns="91425" bIns="45713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700" b="0" dirty="0">
                <a:solidFill>
                  <a:srgbClr val="5F5F5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4704081" y="1757711"/>
              <a:ext cx="828000" cy="18000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차량번호</a:t>
              </a:r>
            </a:p>
          </p:txBody>
        </p:sp>
      </p:grpSp>
      <p:sp>
        <p:nvSpPr>
          <p:cNvPr id="146" name="Search"/>
          <p:cNvSpPr>
            <a:spLocks noChangeAspect="1" noEditPoints="1"/>
          </p:cNvSpPr>
          <p:nvPr/>
        </p:nvSpPr>
        <p:spPr bwMode="auto">
          <a:xfrm>
            <a:off x="7231861" y="1824184"/>
            <a:ext cx="139700" cy="142875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66712"/>
              </p:ext>
            </p:extLst>
          </p:nvPr>
        </p:nvGraphicFramePr>
        <p:xfrm>
          <a:off x="50776" y="1534768"/>
          <a:ext cx="1214577" cy="771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차량정비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74628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A495E4-7E56-F3D5-DC2A-0461DD85579F}"/>
              </a:ext>
            </a:extLst>
          </p:cNvPr>
          <p:cNvSpPr/>
          <p:nvPr/>
        </p:nvSpPr>
        <p:spPr>
          <a:xfrm>
            <a:off x="3806744" y="4276120"/>
            <a:ext cx="1036585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차량번호             ∨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1878A5-82FA-0BD7-6F39-23003B25F02F}"/>
              </a:ext>
            </a:extLst>
          </p:cNvPr>
          <p:cNvSpPr/>
          <p:nvPr/>
        </p:nvSpPr>
        <p:spPr>
          <a:xfrm>
            <a:off x="3806743" y="4484903"/>
            <a:ext cx="1036585" cy="7439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rIns="144000"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차량번호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이용자명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차종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연식</a:t>
            </a:r>
            <a:endParaRPr lang="en-US" altLang="ko-KR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CADE3FB-9EC9-8DD1-65BE-212DB8A6F78C}"/>
              </a:ext>
            </a:extLst>
          </p:cNvPr>
          <p:cNvCxnSpPr>
            <a:cxnSpLocks/>
            <a:stCxn id="145" idx="1"/>
            <a:endCxn id="4" idx="0"/>
          </p:cNvCxnSpPr>
          <p:nvPr/>
        </p:nvCxnSpPr>
        <p:spPr>
          <a:xfrm rot="10800000" flipV="1">
            <a:off x="4325037" y="1895620"/>
            <a:ext cx="669988" cy="238049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5273C5-B0CA-1251-43C5-EEB626695F81}"/>
              </a:ext>
            </a:extLst>
          </p:cNvPr>
          <p:cNvSpPr/>
          <p:nvPr/>
        </p:nvSpPr>
        <p:spPr>
          <a:xfrm>
            <a:off x="3805623" y="4484904"/>
            <a:ext cx="1036585" cy="230636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C6E7AC4-B186-6D89-83CB-B9D2398B8064}"/>
              </a:ext>
            </a:extLst>
          </p:cNvPr>
          <p:cNvSpPr/>
          <p:nvPr/>
        </p:nvSpPr>
        <p:spPr>
          <a:xfrm>
            <a:off x="8877301" y="6591300"/>
            <a:ext cx="10287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 0.7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109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396326"/>
              </p:ext>
            </p:extLst>
          </p:nvPr>
        </p:nvGraphicFramePr>
        <p:xfrm>
          <a:off x="7619846" y="520982"/>
          <a:ext cx="2286153" cy="222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페이지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등록 시 차량 정비에 추가된 차량 정보가 등록됨 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표의 행을 클릭 시 해당 차량의 관리 페이지가 팝업으로 생성됨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주행거리는 누적된 최종 주행거리 데이터가 연동됨</a:t>
                      </a:r>
                      <a:b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정비금액은 </a:t>
                      </a: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(-)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 입력이 불가함 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 기본정보와 총 누적 주행거리 정보 표시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데이터 영역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정비항목 클릭 시 해당 정비항목의 신규 정비 내역 추가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기존 정비이력 팝업 생성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정비내역 추가 시 해당 주행거리를 기준으로 알림 주기를 초기화하는 알림 팝업 생성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정비항목 추가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 정비항목을 추가하는 팝업 생성 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3209873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휘발유 유종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50776" y="1534768"/>
          <a:ext cx="1214577" cy="771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차량정비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74628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614D104-066F-36E7-DA4D-FC5256AC6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90242"/>
              </p:ext>
            </p:extLst>
          </p:nvPr>
        </p:nvGraphicFramePr>
        <p:xfrm>
          <a:off x="1441677" y="3437203"/>
          <a:ext cx="5929884" cy="3677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14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기준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횟수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정비금액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엔진오일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오일필터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브레이크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변속기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연료 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에어컨필터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마모상태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1507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 위치교환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998719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휠 </a:t>
                      </a: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얼라이먼트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948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점화플러그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2363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하이텐션코드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456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구동벨트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2098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브레이크패드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디스크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34466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냉각수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부동액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3631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9736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CFA8F0-72E5-0E47-F42E-7ED18BDA2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545856"/>
              </p:ext>
            </p:extLst>
          </p:nvPr>
        </p:nvGraphicFramePr>
        <p:xfrm>
          <a:off x="1441677" y="1909528"/>
          <a:ext cx="1591296" cy="102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</a:tblGrid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1234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휘발유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 주행거리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2026.05.01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D50235-3336-605E-E882-14F80AE19E5B}"/>
              </a:ext>
            </a:extLst>
          </p:cNvPr>
          <p:cNvSpPr txBox="1"/>
          <p:nvPr/>
        </p:nvSpPr>
        <p:spPr>
          <a:xfrm>
            <a:off x="1316670" y="1678325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98CB9-3260-C930-4632-DFC2AA236685}"/>
              </a:ext>
            </a:extLst>
          </p:cNvPr>
          <p:cNvSpPr txBox="1"/>
          <p:nvPr/>
        </p:nvSpPr>
        <p:spPr>
          <a:xfrm>
            <a:off x="1338441" y="3104354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정비 정보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EE9D32A-8CE1-A8E8-BBE9-3AD9A32C865B}"/>
              </a:ext>
            </a:extLst>
          </p:cNvPr>
          <p:cNvGrpSpPr/>
          <p:nvPr/>
        </p:nvGrpSpPr>
        <p:grpSpPr>
          <a:xfrm>
            <a:off x="3337452" y="3892633"/>
            <a:ext cx="5533141" cy="4447657"/>
            <a:chOff x="7089749" y="2566576"/>
            <a:chExt cx="5533141" cy="3677567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F68C236-8AC4-4274-DDFC-0E334C72D250}"/>
                </a:ext>
              </a:extLst>
            </p:cNvPr>
            <p:cNvGrpSpPr/>
            <p:nvPr/>
          </p:nvGrpSpPr>
          <p:grpSpPr>
            <a:xfrm>
              <a:off x="7089749" y="2566576"/>
              <a:ext cx="5533141" cy="3677567"/>
              <a:chOff x="14489" y="590315"/>
              <a:chExt cx="8280644" cy="749717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92A8AE49-9F6C-8F7E-0E1A-CB06EC5E0186}"/>
                  </a:ext>
                </a:extLst>
              </p:cNvPr>
              <p:cNvSpPr/>
              <p:nvPr/>
            </p:nvSpPr>
            <p:spPr>
              <a:xfrm>
                <a:off x="14489" y="590315"/>
                <a:ext cx="8280644" cy="74971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16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E5D3E5-0F52-46CE-D688-2F2F4068E290}"/>
                  </a:ext>
                </a:extLst>
              </p:cNvPr>
              <p:cNvSpPr txBox="1"/>
              <p:nvPr/>
            </p:nvSpPr>
            <p:spPr>
              <a:xfrm>
                <a:off x="24067" y="605913"/>
                <a:ext cx="2047545" cy="5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엔진오일</a:t>
                </a:r>
                <a:r>
                  <a:rPr lang="en-US" altLang="ko-KR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/</a:t>
                </a:r>
                <a:r>
                  <a: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오일필터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1DED70-5D8E-7849-11E8-7416E1544724}"/>
                </a:ext>
              </a:extLst>
            </p:cNvPr>
            <p:cNvSpPr txBox="1"/>
            <p:nvPr/>
          </p:nvSpPr>
          <p:spPr>
            <a:xfrm>
              <a:off x="12144375" y="2623291"/>
              <a:ext cx="409575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X</a:t>
              </a:r>
              <a:endPara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AFAC22-57D7-9B5A-82D3-27070337D1CE}"/>
                </a:ext>
              </a:extLst>
            </p:cNvPr>
            <p:cNvSpPr txBox="1"/>
            <p:nvPr/>
          </p:nvSpPr>
          <p:spPr>
            <a:xfrm>
              <a:off x="7895879" y="3535523"/>
              <a:ext cx="190476" cy="178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21E0EE-6DB7-7FE9-6585-ED7498B60557}"/>
              </a:ext>
            </a:extLst>
          </p:cNvPr>
          <p:cNvSpPr/>
          <p:nvPr/>
        </p:nvSpPr>
        <p:spPr>
          <a:xfrm>
            <a:off x="7897099" y="4436998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등록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126F06EA-1080-EEFC-D36E-51394BB19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91959"/>
              </p:ext>
            </p:extLst>
          </p:nvPr>
        </p:nvGraphicFramePr>
        <p:xfrm>
          <a:off x="4166045" y="7570471"/>
          <a:ext cx="3873084" cy="24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2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7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b="1" dirty="0">
                        <a:solidFill>
                          <a:schemeClr val="bg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rgbClr val="FF00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L="93052" marR="93052" marT="48006" marB="48006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418675-EAF3-822D-7442-AD2EAE2CF4D6}"/>
              </a:ext>
            </a:extLst>
          </p:cNvPr>
          <p:cNvSpPr/>
          <p:nvPr/>
        </p:nvSpPr>
        <p:spPr>
          <a:xfrm>
            <a:off x="1422627" y="3659749"/>
            <a:ext cx="1006248" cy="2154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11C51AD-0396-2133-5647-264BB3E77351}"/>
              </a:ext>
            </a:extLst>
          </p:cNvPr>
          <p:cNvCxnSpPr>
            <a:stCxn id="41" idx="3"/>
            <a:endCxn id="18" idx="1"/>
          </p:cNvCxnSpPr>
          <p:nvPr/>
        </p:nvCxnSpPr>
        <p:spPr>
          <a:xfrm>
            <a:off x="2428875" y="3767471"/>
            <a:ext cx="908577" cy="234899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D9C4B6-B8FC-441B-F824-B81C55AEA848}"/>
              </a:ext>
            </a:extLst>
          </p:cNvPr>
          <p:cNvSpPr/>
          <p:nvPr/>
        </p:nvSpPr>
        <p:spPr>
          <a:xfrm>
            <a:off x="6456435" y="3158137"/>
            <a:ext cx="828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정비항목 추가</a:t>
            </a: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15305225-07F1-9FAA-F971-F3EB32245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493589"/>
              </p:ext>
            </p:extLst>
          </p:nvPr>
        </p:nvGraphicFramePr>
        <p:xfrm>
          <a:off x="3721955" y="6042175"/>
          <a:ext cx="4742369" cy="1442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979">
                  <a:extLst>
                    <a:ext uri="{9D8B030D-6E8A-4147-A177-3AD203B41FA5}">
                      <a16:colId xmlns:a16="http://schemas.microsoft.com/office/drawing/2014/main" val="649387916"/>
                    </a:ext>
                  </a:extLst>
                </a:gridCol>
                <a:gridCol w="599425">
                  <a:extLst>
                    <a:ext uri="{9D8B030D-6E8A-4147-A177-3AD203B41FA5}">
                      <a16:colId xmlns:a16="http://schemas.microsoft.com/office/drawing/2014/main" val="2920634070"/>
                    </a:ext>
                  </a:extLst>
                </a:gridCol>
                <a:gridCol w="54582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450007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537823">
                  <a:extLst>
                    <a:ext uri="{9D8B030D-6E8A-4147-A177-3AD203B41FA5}">
                      <a16:colId xmlns:a16="http://schemas.microsoft.com/office/drawing/2014/main" val="2526236663"/>
                    </a:ext>
                  </a:extLst>
                </a:gridCol>
                <a:gridCol w="38921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509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85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672285">
                  <a:extLst>
                    <a:ext uri="{9D8B030D-6E8A-4147-A177-3AD203B41FA5}">
                      <a16:colId xmlns:a16="http://schemas.microsoft.com/office/drawing/2014/main" val="3129344388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거래처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 누적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횟수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정비금액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원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26/01/01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현대모비스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5.000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BF0CB7B2-DBD5-470D-737D-537F69FE9ED1}"/>
              </a:ext>
            </a:extLst>
          </p:cNvPr>
          <p:cNvSpPr txBox="1"/>
          <p:nvPr/>
        </p:nvSpPr>
        <p:spPr>
          <a:xfrm>
            <a:off x="3370595" y="4348722"/>
            <a:ext cx="1368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정비 내역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773B6B-5E82-73F8-5C92-1CCE1495BAF8}"/>
              </a:ext>
            </a:extLst>
          </p:cNvPr>
          <p:cNvSpPr txBox="1"/>
          <p:nvPr/>
        </p:nvSpPr>
        <p:spPr>
          <a:xfrm>
            <a:off x="3370594" y="5718175"/>
            <a:ext cx="1368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정비 이력</a:t>
            </a: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61D7F55C-77A8-A912-E9C9-8248AF1AB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76806"/>
              </p:ext>
            </p:extLst>
          </p:nvPr>
        </p:nvGraphicFramePr>
        <p:xfrm>
          <a:off x="3751373" y="4658211"/>
          <a:ext cx="4616892" cy="791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652">
                  <a:extLst>
                    <a:ext uri="{9D8B030D-6E8A-4147-A177-3AD203B41FA5}">
                      <a16:colId xmlns:a16="http://schemas.microsoft.com/office/drawing/2014/main" val="1114912187"/>
                    </a:ext>
                  </a:extLst>
                </a:gridCol>
                <a:gridCol w="1287794">
                  <a:extLst>
                    <a:ext uri="{9D8B030D-6E8A-4147-A177-3AD203B41FA5}">
                      <a16:colId xmlns:a16="http://schemas.microsoft.com/office/drawing/2014/main" val="427917337"/>
                    </a:ext>
                  </a:extLst>
                </a:gridCol>
                <a:gridCol w="969631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1338815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</a:tblGrid>
              <a:tr h="2508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정비업체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 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702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  <a:r>
                        <a:rPr lang="en-US" altLang="ko-KR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메모</a:t>
                      </a:r>
                      <a:r>
                        <a:rPr lang="en-US" altLang="ko-KR" sz="9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</a:tbl>
          </a:graphicData>
        </a:graphic>
      </p:graphicFrame>
      <p:sp>
        <p:nvSpPr>
          <p:cNvPr id="60" name="직사각형 59">
            <a:extLst>
              <a:ext uri="{FF2B5EF4-FFF2-40B4-BE49-F238E27FC236}">
                <a16:creationId xmlns:a16="http://schemas.microsoft.com/office/drawing/2014/main" id="{55B1F4CD-C226-E5BF-D857-B48EAE531C74}"/>
              </a:ext>
            </a:extLst>
          </p:cNvPr>
          <p:cNvSpPr/>
          <p:nvPr/>
        </p:nvSpPr>
        <p:spPr>
          <a:xfrm>
            <a:off x="4813774" y="4691690"/>
            <a:ext cx="1191823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AA7EACE-143D-3FD5-6FE6-A2A25ABEF2D9}"/>
              </a:ext>
            </a:extLst>
          </p:cNvPr>
          <p:cNvSpPr/>
          <p:nvPr/>
        </p:nvSpPr>
        <p:spPr>
          <a:xfrm>
            <a:off x="4832824" y="5215566"/>
            <a:ext cx="3485925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28066FB-EF9B-CE3D-CA6B-CF3490FC3E2D}"/>
              </a:ext>
            </a:extLst>
          </p:cNvPr>
          <p:cNvSpPr/>
          <p:nvPr/>
        </p:nvSpPr>
        <p:spPr>
          <a:xfrm>
            <a:off x="7112192" y="4691690"/>
            <a:ext cx="1191823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96A91E6-F26F-E72C-559B-D539A5167CFC}"/>
              </a:ext>
            </a:extLst>
          </p:cNvPr>
          <p:cNvSpPr/>
          <p:nvPr/>
        </p:nvSpPr>
        <p:spPr>
          <a:xfrm>
            <a:off x="7112192" y="4948773"/>
            <a:ext cx="1191823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4266A-8B45-3525-ABA6-15C5409BF7B7}"/>
              </a:ext>
            </a:extLst>
          </p:cNvPr>
          <p:cNvSpPr txBox="1"/>
          <p:nvPr/>
        </p:nvSpPr>
        <p:spPr>
          <a:xfrm>
            <a:off x="3976277" y="5056531"/>
            <a:ext cx="218802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주행거리는 누적된 최종 주행거리 데이터 연동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341C4A-372B-B3BC-83E8-2D29145F3F88}"/>
              </a:ext>
            </a:extLst>
          </p:cNvPr>
          <p:cNvSpPr/>
          <p:nvPr/>
        </p:nvSpPr>
        <p:spPr>
          <a:xfrm>
            <a:off x="9284514" y="4730465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정비 내역을 등록하겠습니까</a:t>
            </a:r>
            <a:r>
              <a:rPr lang="en-US" altLang="ko-KR" sz="907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?</a:t>
            </a:r>
            <a:endParaRPr lang="ko-KR" altLang="en-US" sz="907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33DC96-8914-E526-4FB2-0E60AD67F605}"/>
              </a:ext>
            </a:extLst>
          </p:cNvPr>
          <p:cNvSpPr/>
          <p:nvPr/>
        </p:nvSpPr>
        <p:spPr>
          <a:xfrm>
            <a:off x="9525080" y="5333641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F15AC9-8CC1-76C8-3BE6-85BCA0BB9D0F}"/>
              </a:ext>
            </a:extLst>
          </p:cNvPr>
          <p:cNvSpPr/>
          <p:nvPr/>
        </p:nvSpPr>
        <p:spPr>
          <a:xfrm>
            <a:off x="10003992" y="5333808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0FE585F-1F5C-3585-BAD8-DFFA71C7A0EC}"/>
              </a:ext>
            </a:extLst>
          </p:cNvPr>
          <p:cNvCxnSpPr>
            <a:stCxn id="32" idx="3"/>
            <a:endCxn id="8" idx="1"/>
          </p:cNvCxnSpPr>
          <p:nvPr/>
        </p:nvCxnSpPr>
        <p:spPr>
          <a:xfrm>
            <a:off x="8348971" y="4530264"/>
            <a:ext cx="935543" cy="6683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5AFA455-3DEA-B369-3643-FA6D5AEF2AD1}"/>
              </a:ext>
            </a:extLst>
          </p:cNvPr>
          <p:cNvSpPr/>
          <p:nvPr/>
        </p:nvSpPr>
        <p:spPr>
          <a:xfrm>
            <a:off x="1307174" y="189031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B53DD26-C6BE-2B7D-B327-A2D988FEED1D}"/>
              </a:ext>
            </a:extLst>
          </p:cNvPr>
          <p:cNvSpPr/>
          <p:nvPr/>
        </p:nvSpPr>
        <p:spPr>
          <a:xfrm>
            <a:off x="1323950" y="3434683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80D57B3-939A-37E9-3773-2455B8580D54}"/>
              </a:ext>
            </a:extLst>
          </p:cNvPr>
          <p:cNvSpPr/>
          <p:nvPr/>
        </p:nvSpPr>
        <p:spPr>
          <a:xfrm>
            <a:off x="6312433" y="317930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4043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6E749F-BA77-C1ED-4FF5-1C416DB18D6B}"/>
              </a:ext>
            </a:extLst>
          </p:cNvPr>
          <p:cNvSpPr/>
          <p:nvPr/>
        </p:nvSpPr>
        <p:spPr>
          <a:xfrm>
            <a:off x="1441677" y="3437203"/>
            <a:ext cx="5929884" cy="3677919"/>
          </a:xfrm>
          <a:prstGeom prst="rect">
            <a:avLst/>
          </a:prstGeom>
          <a:solidFill>
            <a:schemeClr val="bg1">
              <a:lumMod val="8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379299"/>
              </p:ext>
            </p:extLst>
          </p:nvPr>
        </p:nvGraphicFramePr>
        <p:xfrm>
          <a:off x="7619846" y="520982"/>
          <a:ext cx="2286153" cy="36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신규 페이지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정비항목 등록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팝업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1-1)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정비항목명 등록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1-2)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기준 등록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1-3)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주행거리에 따라 차량정비 알림 설정 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(SMS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발송이 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default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SMS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미사용 시 이메일 발송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이메일 미사용 시 쪽지 발송</a:t>
                      </a:r>
                      <a:r>
                        <a:rPr lang="en-US" altLang="ko-KR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1-4)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알림 대상자 설정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 모두 선택 가능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모두 선택이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default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2997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4520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855987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3209873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휘발유 유종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50776" y="1534768"/>
          <a:ext cx="1214577" cy="771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차량정비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74628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614D104-066F-36E7-DA4D-FC5256AC620E}"/>
              </a:ext>
            </a:extLst>
          </p:cNvPr>
          <p:cNvGraphicFramePr>
            <a:graphicFrameLocks noGrp="1"/>
          </p:cNvGraphicFramePr>
          <p:nvPr/>
        </p:nvGraphicFramePr>
        <p:xfrm>
          <a:off x="1441677" y="3437203"/>
          <a:ext cx="5929884" cy="3677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14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기준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횟수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정비금액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엔진오일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오일필터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브레이크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변속기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연료 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에어컨필터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마모상태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1507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 위치교환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998719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휠 </a:t>
                      </a:r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얼라이먼트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948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점화플러그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2363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하이텐션코드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9456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구동벨트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2098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브레이크패드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디스크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34466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냉각수</a:t>
                      </a: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부동액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63631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89736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CFA8F0-72E5-0E47-F42E-7ED18BDA2366}"/>
              </a:ext>
            </a:extLst>
          </p:cNvPr>
          <p:cNvGraphicFramePr>
            <a:graphicFrameLocks noGrp="1"/>
          </p:cNvGraphicFramePr>
          <p:nvPr/>
        </p:nvGraphicFramePr>
        <p:xfrm>
          <a:off x="1441677" y="1909528"/>
          <a:ext cx="1591296" cy="102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</a:tblGrid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1234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휘발유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2026.05.01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D50235-3336-605E-E882-14F80AE19E5B}"/>
              </a:ext>
            </a:extLst>
          </p:cNvPr>
          <p:cNvSpPr txBox="1"/>
          <p:nvPr/>
        </p:nvSpPr>
        <p:spPr>
          <a:xfrm>
            <a:off x="1316670" y="1678325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98CB9-3260-C930-4632-DFC2AA236685}"/>
              </a:ext>
            </a:extLst>
          </p:cNvPr>
          <p:cNvSpPr txBox="1"/>
          <p:nvPr/>
        </p:nvSpPr>
        <p:spPr>
          <a:xfrm>
            <a:off x="1338441" y="3104354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정비 정보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EE9D32A-8CE1-A8E8-BBE9-3AD9A32C865B}"/>
              </a:ext>
            </a:extLst>
          </p:cNvPr>
          <p:cNvGrpSpPr/>
          <p:nvPr/>
        </p:nvGrpSpPr>
        <p:grpSpPr>
          <a:xfrm>
            <a:off x="2404381" y="3836969"/>
            <a:ext cx="4142692" cy="2380446"/>
            <a:chOff x="7089749" y="2566576"/>
            <a:chExt cx="5533141" cy="2380446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F68C236-8AC4-4274-DDFC-0E334C72D250}"/>
                </a:ext>
              </a:extLst>
            </p:cNvPr>
            <p:cNvGrpSpPr/>
            <p:nvPr/>
          </p:nvGrpSpPr>
          <p:grpSpPr>
            <a:xfrm>
              <a:off x="7089749" y="2566576"/>
              <a:ext cx="5533141" cy="2380446"/>
              <a:chOff x="14489" y="590315"/>
              <a:chExt cx="8280644" cy="485283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92A8AE49-9F6C-8F7E-0E1A-CB06EC5E0186}"/>
                  </a:ext>
                </a:extLst>
              </p:cNvPr>
              <p:cNvSpPr/>
              <p:nvPr/>
            </p:nvSpPr>
            <p:spPr>
              <a:xfrm>
                <a:off x="14489" y="590315"/>
                <a:ext cx="8280644" cy="48528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16" dirty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4E5D3E5-0F52-46CE-D688-2F2F4068E290}"/>
                  </a:ext>
                </a:extLst>
              </p:cNvPr>
              <p:cNvSpPr txBox="1"/>
              <p:nvPr/>
            </p:nvSpPr>
            <p:spPr>
              <a:xfrm>
                <a:off x="24068" y="605913"/>
                <a:ext cx="4239163" cy="53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정비 항목 및 알림 설정 등록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1DED70-5D8E-7849-11E8-7416E1544724}"/>
                </a:ext>
              </a:extLst>
            </p:cNvPr>
            <p:cNvSpPr txBox="1"/>
            <p:nvPr/>
          </p:nvSpPr>
          <p:spPr>
            <a:xfrm>
              <a:off x="12144375" y="2623291"/>
              <a:ext cx="409575" cy="261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X</a:t>
              </a:r>
              <a:endPara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21E0EE-6DB7-7FE9-6585-ED7498B60557}"/>
              </a:ext>
            </a:extLst>
          </p:cNvPr>
          <p:cNvSpPr/>
          <p:nvPr/>
        </p:nvSpPr>
        <p:spPr>
          <a:xfrm>
            <a:off x="3922939" y="587440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B3EA83F-4EBC-7131-9D23-A41E4F8CA65F}"/>
              </a:ext>
            </a:extLst>
          </p:cNvPr>
          <p:cNvSpPr/>
          <p:nvPr/>
        </p:nvSpPr>
        <p:spPr>
          <a:xfrm>
            <a:off x="4442712" y="5874404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418675-EAF3-822D-7442-AD2EAE2CF4D6}"/>
              </a:ext>
            </a:extLst>
          </p:cNvPr>
          <p:cNvSpPr/>
          <p:nvPr/>
        </p:nvSpPr>
        <p:spPr>
          <a:xfrm>
            <a:off x="6456435" y="3146468"/>
            <a:ext cx="828000" cy="219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11C51AD-0396-2133-5647-264BB3E77351}"/>
              </a:ext>
            </a:extLst>
          </p:cNvPr>
          <p:cNvCxnSpPr>
            <a:cxnSpLocks/>
            <a:stCxn id="41" idx="2"/>
            <a:endCxn id="18" idx="0"/>
          </p:cNvCxnSpPr>
          <p:nvPr/>
        </p:nvCxnSpPr>
        <p:spPr>
          <a:xfrm rot="5400000">
            <a:off x="5437814" y="2404347"/>
            <a:ext cx="470535" cy="239470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D9C4B6-B8FC-441B-F824-B81C55AEA848}"/>
              </a:ext>
            </a:extLst>
          </p:cNvPr>
          <p:cNvSpPr/>
          <p:nvPr/>
        </p:nvSpPr>
        <p:spPr>
          <a:xfrm>
            <a:off x="6456435" y="3158137"/>
            <a:ext cx="828000" cy="18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정비항목 추가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EC69F-4DE2-551A-F883-487D96BE4B12}"/>
              </a:ext>
            </a:extLst>
          </p:cNvPr>
          <p:cNvSpPr txBox="1"/>
          <p:nvPr/>
        </p:nvSpPr>
        <p:spPr>
          <a:xfrm>
            <a:off x="4668648" y="5012686"/>
            <a:ext cx="190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6B643-CFE6-0D06-C072-95C94CAFC4E4}"/>
              </a:ext>
            </a:extLst>
          </p:cNvPr>
          <p:cNvSpPr txBox="1"/>
          <p:nvPr/>
        </p:nvSpPr>
        <p:spPr>
          <a:xfrm>
            <a:off x="4184335" y="5425479"/>
            <a:ext cx="190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AFAC22-57D7-9B5A-82D3-27070337D1CE}"/>
              </a:ext>
            </a:extLst>
          </p:cNvPr>
          <p:cNvSpPr txBox="1"/>
          <p:nvPr/>
        </p:nvSpPr>
        <p:spPr>
          <a:xfrm>
            <a:off x="4707197" y="5123143"/>
            <a:ext cx="190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∨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49211A3-9307-6508-8EED-C55D06150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993899"/>
              </p:ext>
            </p:extLst>
          </p:nvPr>
        </p:nvGraphicFramePr>
        <p:xfrm>
          <a:off x="2564166" y="4304634"/>
          <a:ext cx="3647497" cy="141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602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2560895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</a:tblGrid>
              <a:tr h="35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항목명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기준 주기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35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알림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알림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80%)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SMS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발송     □ 발송 안 함 </a:t>
                      </a:r>
                      <a:b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알림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100%)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 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SMS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발송     □ 발송 안 함 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354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수신 대상 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□  담당자     □ 차량관리자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4A8B28-615F-A97F-392E-1DF17AFD1BFB}"/>
              </a:ext>
            </a:extLst>
          </p:cNvPr>
          <p:cNvSpPr/>
          <p:nvPr/>
        </p:nvSpPr>
        <p:spPr>
          <a:xfrm>
            <a:off x="3786774" y="4374281"/>
            <a:ext cx="1586728" cy="18444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364476-72FB-F4F1-6642-1DE773F11013}"/>
              </a:ext>
            </a:extLst>
          </p:cNvPr>
          <p:cNvSpPr/>
          <p:nvPr/>
        </p:nvSpPr>
        <p:spPr>
          <a:xfrm>
            <a:off x="3786774" y="4752522"/>
            <a:ext cx="1586728" cy="18444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ECA512E-DF2B-128E-815B-3A0143342ACC}"/>
              </a:ext>
            </a:extLst>
          </p:cNvPr>
          <p:cNvSpPr/>
          <p:nvPr/>
        </p:nvSpPr>
        <p:spPr>
          <a:xfrm>
            <a:off x="2335291" y="3857096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F3D8B9B-C74A-4B3C-C5C2-D1C4CCED3B3F}"/>
              </a:ext>
            </a:extLst>
          </p:cNvPr>
          <p:cNvSpPr/>
          <p:nvPr/>
        </p:nvSpPr>
        <p:spPr>
          <a:xfrm>
            <a:off x="3626064" y="4351427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2FD504E-F823-1F4B-E06C-BC8446EF8465}"/>
              </a:ext>
            </a:extLst>
          </p:cNvPr>
          <p:cNvSpPr/>
          <p:nvPr/>
        </p:nvSpPr>
        <p:spPr>
          <a:xfrm>
            <a:off x="3620894" y="472043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1-2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D1AF964-D10B-BA8D-DB6C-9CDDE2DD7CF4}"/>
              </a:ext>
            </a:extLst>
          </p:cNvPr>
          <p:cNvSpPr/>
          <p:nvPr/>
        </p:nvSpPr>
        <p:spPr>
          <a:xfrm>
            <a:off x="3548894" y="5049736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1-3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1F3B60F-5BE2-DB8C-F321-976A4A02BBFB}"/>
              </a:ext>
            </a:extLst>
          </p:cNvPr>
          <p:cNvSpPr/>
          <p:nvPr/>
        </p:nvSpPr>
        <p:spPr>
          <a:xfrm>
            <a:off x="3548894" y="5437430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1-4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013671-DD25-C550-7A77-91F534F03487}"/>
              </a:ext>
            </a:extLst>
          </p:cNvPr>
          <p:cNvSpPr/>
          <p:nvPr/>
        </p:nvSpPr>
        <p:spPr>
          <a:xfrm>
            <a:off x="8877301" y="6591300"/>
            <a:ext cx="10287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0.7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453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페이지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353616" y="1313309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33212"/>
              </p:ext>
            </p:extLst>
          </p:nvPr>
        </p:nvGraphicFramePr>
        <p:xfrm>
          <a:off x="7619846" y="520982"/>
          <a:ext cx="2286153" cy="28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92308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2997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454520"/>
                  </a:ext>
                </a:extLst>
              </a:tr>
              <a:tr h="348401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855987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1281056" y="1625075"/>
            <a:ext cx="6228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3209873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차량정비 목록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49680" y="596483"/>
            <a:ext cx="7510473" cy="5636634"/>
            <a:chOff x="50776" y="592561"/>
            <a:chExt cx="7510473" cy="5636634"/>
          </a:xfrm>
        </p:grpSpPr>
        <p:grpSp>
          <p:nvGrpSpPr>
            <p:cNvPr id="153" name="그룹 15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60" name="그룹 15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62" name="직사각형 16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3" name="직사각형 16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4" name="TextBox 16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6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6" name="TextBox 16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67" name="직사각형 16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68" name="TextBox 167"/>
                <p:cNvSpPr txBox="1"/>
                <p:nvPr/>
              </p:nvSpPr>
              <p:spPr>
                <a:xfrm>
                  <a:off x="24068" y="594261"/>
                  <a:ext cx="1304190" cy="262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61" name="직사각형 16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54" name="직사각형 15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5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5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50776" y="1534768"/>
          <a:ext cx="1214577" cy="771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차량운행정보 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차량등록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28344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차량정비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474628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614D104-066F-36E7-DA4D-FC5256AC6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981328"/>
              </p:ext>
            </p:extLst>
          </p:nvPr>
        </p:nvGraphicFramePr>
        <p:xfrm>
          <a:off x="1441677" y="3437203"/>
          <a:ext cx="5929884" cy="219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14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940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640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988314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기준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 횟수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정비금액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누적 정비금액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엔진오일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오일필터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5.000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120,000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브레이크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변속기 오일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연료 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에어컨필터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마모상태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61507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타이어 위치교환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998719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휠 </a:t>
                      </a:r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얼라이먼트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20,000 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948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CFA8F0-72E5-0E47-F42E-7ED18BDA2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12598"/>
              </p:ext>
            </p:extLst>
          </p:nvPr>
        </p:nvGraphicFramePr>
        <p:xfrm>
          <a:off x="1441677" y="1909528"/>
          <a:ext cx="1591296" cy="102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</a:tblGrid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4567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디젤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(km)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042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2026.05.01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D50235-3336-605E-E882-14F80AE19E5B}"/>
              </a:ext>
            </a:extLst>
          </p:cNvPr>
          <p:cNvSpPr txBox="1"/>
          <p:nvPr/>
        </p:nvSpPr>
        <p:spPr>
          <a:xfrm>
            <a:off x="1316670" y="1678325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en-US" altLang="ko-KR" sz="105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98CB9-3260-C930-4632-DFC2AA236685}"/>
              </a:ext>
            </a:extLst>
          </p:cNvPr>
          <p:cNvSpPr txBox="1"/>
          <p:nvPr/>
        </p:nvSpPr>
        <p:spPr>
          <a:xfrm>
            <a:off x="1338441" y="3104354"/>
            <a:ext cx="15052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 정비 정보</a:t>
            </a:r>
          </a:p>
        </p:txBody>
      </p:sp>
    </p:spTree>
    <p:extLst>
      <p:ext uri="{BB962C8B-B14F-4D97-AF65-F5344CB8AC3E}">
        <p14:creationId xmlns:p14="http://schemas.microsoft.com/office/powerpoint/2010/main" val="1040505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 관리자 권한 설정 페이지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53615" y="1313309"/>
            <a:ext cx="23621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05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차량관리자</a:t>
            </a:r>
            <a:r>
              <a:rPr lang="ko-KR" altLang="en-US" sz="105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권한 설정</a:t>
            </a:r>
          </a:p>
        </p:txBody>
      </p:sp>
      <p:graphicFrame>
        <p:nvGraphicFramePr>
          <p:cNvPr id="212" name="표 2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049134"/>
              </p:ext>
            </p:extLst>
          </p:nvPr>
        </p:nvGraphicFramePr>
        <p:xfrm>
          <a:off x="7619846" y="520982"/>
          <a:ext cx="2286153" cy="3735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0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관리자 권한 설정 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700" b="0" dirty="0" err="1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전사관리자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중 차량운행 관리자 권한 설정이 가능한 계정을 </a:t>
                      </a:r>
                      <a:r>
                        <a:rPr lang="en-US" altLang="ko-KR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DB</a:t>
                      </a: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 등록하여 관리 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700" b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해당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계정만 </a:t>
                      </a:r>
                      <a:r>
                        <a:rPr lang="ko-KR" altLang="en-US" sz="700" b="0" baseline="0" dirty="0" err="1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차량관리자</a:t>
                      </a:r>
                      <a:r>
                        <a:rPr lang="ko-KR" altLang="en-US" sz="700" b="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권한 설정 페이지 노출 </a:t>
                      </a:r>
                      <a:endParaRPr lang="en-US" altLang="ko-KR" sz="700" b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72000" marR="36000" marT="72000" marB="72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2depth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영역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메뉴 타이틀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영억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조직도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 조직도 팝업 생성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관리자설정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조직관리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권한관리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조직도 버튼 클릭 시 팝업과 동일한 팝업 생성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설정된 인원의 관리자 항목명을 </a:t>
                      </a:r>
                      <a:r>
                        <a:rPr lang="ko-KR" altLang="en-US" sz="700" b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전사관리자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-&gt;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차량운행관리자료 변경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설정한 내용 그대로 저장 및 적용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 완료 안내 토스트 팝업 띄움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41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3-2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83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버튼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설정한 내용 그대로 저장 및 적용</a:t>
                      </a:r>
                      <a:b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 완료 안내 토스트 팝업 띄움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9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4-1</a:t>
                      </a: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저장완료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안내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토스트 팝업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[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확인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클릭 시 팝업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9390"/>
                  </a:ext>
                </a:extLst>
              </a:tr>
              <a:tr h="215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취소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버튼 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955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클릭 시</a:t>
                      </a:r>
                      <a:r>
                        <a:rPr lang="en-US" altLang="ko-KR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입력한 모든 정보 삭제 후 종료</a:t>
                      </a:r>
                      <a:endParaRPr lang="en-US" altLang="ko-KR" sz="700" b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65303" marR="32652" marT="65303" marB="65303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433085"/>
                  </a:ext>
                </a:extLst>
              </a:tr>
            </a:tbl>
          </a:graphicData>
        </a:graphic>
      </p:graphicFrame>
      <p:sp>
        <p:nvSpPr>
          <p:cNvPr id="39" name="타원 38"/>
          <p:cNvSpPr/>
          <p:nvPr/>
        </p:nvSpPr>
        <p:spPr>
          <a:xfrm>
            <a:off x="1274591" y="1343824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8" name="제목 1"/>
          <p:cNvSpPr txBox="1">
            <a:spLocks/>
          </p:cNvSpPr>
          <p:nvPr/>
        </p:nvSpPr>
        <p:spPr>
          <a:xfrm>
            <a:off x="4161688" y="278345"/>
            <a:ext cx="2366045" cy="237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메인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차량운행일지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차량등록관리자 권한 설정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3416428" y="3287535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3907132" y="3287535"/>
            <a:ext cx="451872" cy="1865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graphicFrame>
        <p:nvGraphicFramePr>
          <p:cNvPr id="147" name="표 1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49264"/>
              </p:ext>
            </p:extLst>
          </p:nvPr>
        </p:nvGraphicFramePr>
        <p:xfrm>
          <a:off x="1530991" y="1745014"/>
          <a:ext cx="4842286" cy="1368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2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272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차량운행 관리자 권한설정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27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경영지원팀</a:t>
                      </a:r>
                      <a:endParaRPr lang="en-US" altLang="ko-KR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김철수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제경팀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8" name="그룹 147"/>
          <p:cNvGrpSpPr/>
          <p:nvPr/>
        </p:nvGrpSpPr>
        <p:grpSpPr>
          <a:xfrm>
            <a:off x="6293111" y="1980983"/>
            <a:ext cx="80166" cy="1132182"/>
            <a:chOff x="5068503" y="2029936"/>
            <a:chExt cx="80589" cy="4947622"/>
          </a:xfrm>
        </p:grpSpPr>
        <p:sp>
          <p:nvSpPr>
            <p:cNvPr id="149" name="직사각형 148"/>
            <p:cNvSpPr/>
            <p:nvPr/>
          </p:nvSpPr>
          <p:spPr>
            <a:xfrm>
              <a:off x="5068503" y="2029936"/>
              <a:ext cx="79312" cy="49476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5069780" y="2133854"/>
              <a:ext cx="79312" cy="279281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51" name="직사각형 150"/>
          <p:cNvSpPr/>
          <p:nvPr/>
        </p:nvSpPr>
        <p:spPr>
          <a:xfrm>
            <a:off x="5842669" y="1745013"/>
            <a:ext cx="491160" cy="1648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cxnSp>
        <p:nvCxnSpPr>
          <p:cNvPr id="152" name="직선 연결선 151"/>
          <p:cNvCxnSpPr/>
          <p:nvPr/>
        </p:nvCxnSpPr>
        <p:spPr>
          <a:xfrm>
            <a:off x="1366781" y="1625075"/>
            <a:ext cx="6156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/>
          <p:cNvSpPr/>
          <p:nvPr/>
        </p:nvSpPr>
        <p:spPr>
          <a:xfrm>
            <a:off x="50776" y="592561"/>
            <a:ext cx="7510473" cy="5962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16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52919" y="592561"/>
            <a:ext cx="7510473" cy="5636634"/>
            <a:chOff x="50776" y="592561"/>
            <a:chExt cx="7510473" cy="5636634"/>
          </a:xfrm>
        </p:grpSpPr>
        <p:grpSp>
          <p:nvGrpSpPr>
            <p:cNvPr id="163" name="그룹 162"/>
            <p:cNvGrpSpPr/>
            <p:nvPr/>
          </p:nvGrpSpPr>
          <p:grpSpPr>
            <a:xfrm>
              <a:off x="50776" y="592561"/>
              <a:ext cx="7510473" cy="5636634"/>
              <a:chOff x="14489" y="590315"/>
              <a:chExt cx="8280644" cy="6214650"/>
            </a:xfrm>
          </p:grpSpPr>
          <p:grpSp>
            <p:nvGrpSpPr>
              <p:cNvPr id="170" name="그룹 169"/>
              <p:cNvGrpSpPr/>
              <p:nvPr/>
            </p:nvGrpSpPr>
            <p:grpSpPr>
              <a:xfrm>
                <a:off x="14489" y="590315"/>
                <a:ext cx="8280644" cy="6214650"/>
                <a:chOff x="14489" y="590315"/>
                <a:chExt cx="8280644" cy="6214650"/>
              </a:xfrm>
            </p:grpSpPr>
            <p:sp>
              <p:nvSpPr>
                <p:cNvPr id="172" name="직사각형 171"/>
                <p:cNvSpPr/>
                <p:nvPr/>
              </p:nvSpPr>
              <p:spPr>
                <a:xfrm>
                  <a:off x="14489" y="590315"/>
                  <a:ext cx="8280644" cy="65737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73" name="직사각형 172"/>
                <p:cNvSpPr/>
                <p:nvPr/>
              </p:nvSpPr>
              <p:spPr>
                <a:xfrm>
                  <a:off x="1354852" y="1247693"/>
                  <a:ext cx="6940279" cy="5557271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884618" y="635083"/>
                  <a:ext cx="708196" cy="242931"/>
                </a:xfrm>
                <a:prstGeom prst="rect">
                  <a:avLst/>
                </a:prstGeom>
                <a:noFill/>
              </p:spPr>
              <p:txBody>
                <a:bodyPr wrap="none" lIns="85489" tIns="42745" rIns="85489" bIns="42745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26" u="sng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홍길동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님</a:t>
                  </a:r>
                  <a:r>
                    <a:rPr lang="en-US" altLang="ko-KR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</a:t>
                  </a:r>
                  <a:r>
                    <a:rPr lang="ko-KR" altLang="en-US" sz="72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▼</a:t>
                  </a:r>
                </a:p>
              </p:txBody>
            </p:sp>
            <p:pic>
              <p:nvPicPr>
                <p:cNvPr id="175" name="Picture 2" descr="C:\Users\user\Downloads\if_bell_384897.pn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59419" y="631936"/>
                  <a:ext cx="237183" cy="23718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6" name="TextBox 175"/>
                <p:cNvSpPr txBox="1"/>
                <p:nvPr/>
              </p:nvSpPr>
              <p:spPr>
                <a:xfrm>
                  <a:off x="1466792" y="987478"/>
                  <a:ext cx="5701055" cy="240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메일    결재    게시판    업무관리    일정관리    </a:t>
                  </a:r>
                  <a:r>
                    <a:rPr lang="ko-KR" altLang="en-US" sz="816" dirty="0" err="1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자원예약</a:t>
                  </a:r>
                  <a:r>
                    <a:rPr lang="ko-KR" altLang="en-US" sz="816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   차량운행일지</a:t>
                  </a:r>
                </a:p>
              </p:txBody>
            </p:sp>
            <p:sp>
              <p:nvSpPr>
                <p:cNvPr id="177" name="직사각형 176"/>
                <p:cNvSpPr/>
                <p:nvPr/>
              </p:nvSpPr>
              <p:spPr>
                <a:xfrm>
                  <a:off x="14489" y="1247693"/>
                  <a:ext cx="1339127" cy="5557272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16" dirty="0">
                    <a:solidFill>
                      <a:schemeClr val="tx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24068" y="594261"/>
                  <a:ext cx="1304190" cy="2884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MEDIALOG</a:t>
                  </a:r>
                  <a:endParaRPr lang="ko-KR" altLang="en-US" sz="1100" b="1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</p:txBody>
            </p:sp>
          </p:grpSp>
          <p:sp>
            <p:nvSpPr>
              <p:cNvPr id="171" name="직사각형 170"/>
              <p:cNvSpPr/>
              <p:nvPr/>
            </p:nvSpPr>
            <p:spPr>
              <a:xfrm>
                <a:off x="7697017" y="660181"/>
                <a:ext cx="108482" cy="10303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454" dirty="0">
                    <a:solidFill>
                      <a:schemeClr val="bg1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N</a:t>
                </a:r>
                <a:endParaRPr lang="ko-KR" altLang="en-US" sz="454" dirty="0">
                  <a:solidFill>
                    <a:schemeClr val="bg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64" name="직사각형 163"/>
            <p:cNvSpPr/>
            <p:nvPr/>
          </p:nvSpPr>
          <p:spPr>
            <a:xfrm>
              <a:off x="4422585" y="654352"/>
              <a:ext cx="1859339" cy="18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4395741" y="636665"/>
              <a:ext cx="616680" cy="220336"/>
            </a:xfrm>
            <a:prstGeom prst="rect">
              <a:avLst/>
            </a:prstGeom>
            <a:noFill/>
          </p:spPr>
          <p:txBody>
            <a:bodyPr wrap="none" lIns="85489" tIns="42745" rIns="85489" bIns="42745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이름검색</a:t>
              </a:r>
              <a:r>
                <a:rPr lang="en-US" altLang="ko-KR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26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▼</a:t>
              </a:r>
            </a:p>
          </p:txBody>
        </p:sp>
        <p:sp>
          <p:nvSpPr>
            <p:cNvPr id="166" name="Search"/>
            <p:cNvSpPr>
              <a:spLocks noChangeAspect="1" noEditPoints="1"/>
            </p:cNvSpPr>
            <p:nvPr/>
          </p:nvSpPr>
          <p:spPr bwMode="auto">
            <a:xfrm>
              <a:off x="6105119" y="675396"/>
              <a:ext cx="139700" cy="142875"/>
            </a:xfrm>
            <a:custGeom>
              <a:avLst/>
              <a:gdLst>
                <a:gd name="T0" fmla="*/ 227 w 572"/>
                <a:gd name="T1" fmla="*/ 0 h 585"/>
                <a:gd name="T2" fmla="*/ 0 w 572"/>
                <a:gd name="T3" fmla="*/ 227 h 585"/>
                <a:gd name="T4" fmla="*/ 227 w 572"/>
                <a:gd name="T5" fmla="*/ 453 h 585"/>
                <a:gd name="T6" fmla="*/ 359 w 572"/>
                <a:gd name="T7" fmla="*/ 410 h 585"/>
                <a:gd name="T8" fmla="*/ 535 w 572"/>
                <a:gd name="T9" fmla="*/ 585 h 585"/>
                <a:gd name="T10" fmla="*/ 572 w 572"/>
                <a:gd name="T11" fmla="*/ 548 h 585"/>
                <a:gd name="T12" fmla="*/ 399 w 572"/>
                <a:gd name="T13" fmla="*/ 374 h 585"/>
                <a:gd name="T14" fmla="*/ 454 w 572"/>
                <a:gd name="T15" fmla="*/ 227 h 585"/>
                <a:gd name="T16" fmla="*/ 227 w 572"/>
                <a:gd name="T17" fmla="*/ 0 h 585"/>
                <a:gd name="T18" fmla="*/ 227 w 572"/>
                <a:gd name="T19" fmla="*/ 27 h 585"/>
                <a:gd name="T20" fmla="*/ 427 w 572"/>
                <a:gd name="T21" fmla="*/ 227 h 585"/>
                <a:gd name="T22" fmla="*/ 227 w 572"/>
                <a:gd name="T23" fmla="*/ 427 h 585"/>
                <a:gd name="T24" fmla="*/ 27 w 572"/>
                <a:gd name="T25" fmla="*/ 227 h 585"/>
                <a:gd name="T26" fmla="*/ 227 w 572"/>
                <a:gd name="T27" fmla="*/ 2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227" y="0"/>
                  </a:moveTo>
                  <a:cubicBezTo>
                    <a:pt x="102" y="0"/>
                    <a:pt x="0" y="102"/>
                    <a:pt x="0" y="227"/>
                  </a:cubicBezTo>
                  <a:cubicBezTo>
                    <a:pt x="0" y="352"/>
                    <a:pt x="102" y="453"/>
                    <a:pt x="227" y="453"/>
                  </a:cubicBezTo>
                  <a:cubicBezTo>
                    <a:pt x="276" y="453"/>
                    <a:pt x="322" y="437"/>
                    <a:pt x="359" y="410"/>
                  </a:cubicBezTo>
                  <a:lnTo>
                    <a:pt x="535" y="585"/>
                  </a:lnTo>
                  <a:lnTo>
                    <a:pt x="572" y="548"/>
                  </a:lnTo>
                  <a:lnTo>
                    <a:pt x="399" y="374"/>
                  </a:lnTo>
                  <a:cubicBezTo>
                    <a:pt x="433" y="335"/>
                    <a:pt x="454" y="283"/>
                    <a:pt x="454" y="227"/>
                  </a:cubicBezTo>
                  <a:cubicBezTo>
                    <a:pt x="454" y="102"/>
                    <a:pt x="352" y="0"/>
                    <a:pt x="227" y="0"/>
                  </a:cubicBezTo>
                  <a:close/>
                  <a:moveTo>
                    <a:pt x="227" y="27"/>
                  </a:moveTo>
                  <a:cubicBezTo>
                    <a:pt x="338" y="27"/>
                    <a:pt x="427" y="116"/>
                    <a:pt x="427" y="227"/>
                  </a:cubicBezTo>
                  <a:cubicBezTo>
                    <a:pt x="427" y="337"/>
                    <a:pt x="338" y="427"/>
                    <a:pt x="227" y="427"/>
                  </a:cubicBezTo>
                  <a:cubicBezTo>
                    <a:pt x="116" y="427"/>
                    <a:pt x="27" y="337"/>
                    <a:pt x="27" y="227"/>
                  </a:cubicBezTo>
                  <a:cubicBezTo>
                    <a:pt x="27" y="116"/>
                    <a:pt x="116" y="27"/>
                    <a:pt x="227" y="27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>
              <a:off x="7228382" y="679425"/>
              <a:ext cx="114300" cy="137566"/>
              <a:chOff x="4895850" y="3389313"/>
              <a:chExt cx="114300" cy="137566"/>
            </a:xfrm>
          </p:grpSpPr>
          <p:sp>
            <p:nvSpPr>
              <p:cNvPr id="168" name="Arrow Right"/>
              <p:cNvSpPr>
                <a:spLocks noChangeAspect="1"/>
              </p:cNvSpPr>
              <p:nvPr/>
            </p:nvSpPr>
            <p:spPr bwMode="auto">
              <a:xfrm>
                <a:off x="4895850" y="3389313"/>
                <a:ext cx="114300" cy="79375"/>
              </a:xfrm>
              <a:custGeom>
                <a:avLst/>
                <a:gdLst>
                  <a:gd name="T0" fmla="*/ 298 w 463"/>
                  <a:gd name="T1" fmla="*/ 0 h 326"/>
                  <a:gd name="T2" fmla="*/ 289 w 463"/>
                  <a:gd name="T3" fmla="*/ 23 h 326"/>
                  <a:gd name="T4" fmla="*/ 411 w 463"/>
                  <a:gd name="T5" fmla="*/ 145 h 326"/>
                  <a:gd name="T6" fmla="*/ 18 w 463"/>
                  <a:gd name="T7" fmla="*/ 145 h 326"/>
                  <a:gd name="T8" fmla="*/ 18 w 463"/>
                  <a:gd name="T9" fmla="*/ 172 h 326"/>
                  <a:gd name="T10" fmla="*/ 411 w 463"/>
                  <a:gd name="T11" fmla="*/ 172 h 326"/>
                  <a:gd name="T12" fmla="*/ 289 w 463"/>
                  <a:gd name="T13" fmla="*/ 294 h 326"/>
                  <a:gd name="T14" fmla="*/ 308 w 463"/>
                  <a:gd name="T15" fmla="*/ 313 h 326"/>
                  <a:gd name="T16" fmla="*/ 463 w 463"/>
                  <a:gd name="T17" fmla="*/ 159 h 326"/>
                  <a:gd name="T18" fmla="*/ 308 w 463"/>
                  <a:gd name="T19" fmla="*/ 4 h 326"/>
                  <a:gd name="T20" fmla="*/ 298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298" y="0"/>
                    </a:moveTo>
                    <a:cubicBezTo>
                      <a:pt x="286" y="0"/>
                      <a:pt x="280" y="14"/>
                      <a:pt x="289" y="23"/>
                    </a:cubicBezTo>
                    <a:lnTo>
                      <a:pt x="411" y="145"/>
                    </a:lnTo>
                    <a:lnTo>
                      <a:pt x="18" y="145"/>
                    </a:lnTo>
                    <a:cubicBezTo>
                      <a:pt x="0" y="145"/>
                      <a:pt x="0" y="172"/>
                      <a:pt x="18" y="172"/>
                    </a:cubicBezTo>
                    <a:lnTo>
                      <a:pt x="411" y="172"/>
                    </a:lnTo>
                    <a:lnTo>
                      <a:pt x="289" y="294"/>
                    </a:lnTo>
                    <a:cubicBezTo>
                      <a:pt x="276" y="307"/>
                      <a:pt x="295" y="326"/>
                      <a:pt x="308" y="313"/>
                    </a:cubicBezTo>
                    <a:lnTo>
                      <a:pt x="463" y="159"/>
                    </a:lnTo>
                    <a:lnTo>
                      <a:pt x="308" y="4"/>
                    </a:lnTo>
                    <a:cubicBezTo>
                      <a:pt x="305" y="1"/>
                      <a:pt x="302" y="0"/>
                      <a:pt x="298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Arrow Left"/>
              <p:cNvSpPr>
                <a:spLocks noChangeAspect="1"/>
              </p:cNvSpPr>
              <p:nvPr/>
            </p:nvSpPr>
            <p:spPr bwMode="auto">
              <a:xfrm>
                <a:off x="4896643" y="3447504"/>
                <a:ext cx="112713" cy="79375"/>
              </a:xfrm>
              <a:custGeom>
                <a:avLst/>
                <a:gdLst>
                  <a:gd name="T0" fmla="*/ 164 w 463"/>
                  <a:gd name="T1" fmla="*/ 0 h 326"/>
                  <a:gd name="T2" fmla="*/ 155 w 463"/>
                  <a:gd name="T3" fmla="*/ 4 h 326"/>
                  <a:gd name="T4" fmla="*/ 0 w 463"/>
                  <a:gd name="T5" fmla="*/ 159 h 326"/>
                  <a:gd name="T6" fmla="*/ 155 w 463"/>
                  <a:gd name="T7" fmla="*/ 313 h 326"/>
                  <a:gd name="T8" fmla="*/ 174 w 463"/>
                  <a:gd name="T9" fmla="*/ 294 h 326"/>
                  <a:gd name="T10" fmla="*/ 51 w 463"/>
                  <a:gd name="T11" fmla="*/ 172 h 326"/>
                  <a:gd name="T12" fmla="*/ 445 w 463"/>
                  <a:gd name="T13" fmla="*/ 172 h 326"/>
                  <a:gd name="T14" fmla="*/ 445 w 463"/>
                  <a:gd name="T15" fmla="*/ 145 h 326"/>
                  <a:gd name="T16" fmla="*/ 51 w 463"/>
                  <a:gd name="T17" fmla="*/ 145 h 326"/>
                  <a:gd name="T18" fmla="*/ 174 w 463"/>
                  <a:gd name="T19" fmla="*/ 23 h 326"/>
                  <a:gd name="T20" fmla="*/ 164 w 463"/>
                  <a:gd name="T2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63" h="326">
                    <a:moveTo>
                      <a:pt x="164" y="0"/>
                    </a:moveTo>
                    <a:cubicBezTo>
                      <a:pt x="161" y="0"/>
                      <a:pt x="157" y="1"/>
                      <a:pt x="155" y="4"/>
                    </a:cubicBezTo>
                    <a:lnTo>
                      <a:pt x="0" y="159"/>
                    </a:lnTo>
                    <a:lnTo>
                      <a:pt x="155" y="313"/>
                    </a:lnTo>
                    <a:cubicBezTo>
                      <a:pt x="167" y="326"/>
                      <a:pt x="187" y="307"/>
                      <a:pt x="174" y="294"/>
                    </a:cubicBezTo>
                    <a:lnTo>
                      <a:pt x="51" y="172"/>
                    </a:lnTo>
                    <a:lnTo>
                      <a:pt x="445" y="172"/>
                    </a:lnTo>
                    <a:cubicBezTo>
                      <a:pt x="463" y="172"/>
                      <a:pt x="463" y="145"/>
                      <a:pt x="445" y="145"/>
                    </a:cubicBezTo>
                    <a:lnTo>
                      <a:pt x="51" y="145"/>
                    </a:lnTo>
                    <a:lnTo>
                      <a:pt x="174" y="23"/>
                    </a:lnTo>
                    <a:cubicBezTo>
                      <a:pt x="182" y="14"/>
                      <a:pt x="176" y="0"/>
                      <a:pt x="164" y="0"/>
                    </a:cubicBezTo>
                    <a:close/>
                  </a:path>
                </a:pathLst>
              </a:custGeom>
              <a:solidFill>
                <a:srgbClr val="5F5F5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9" name="타원 48"/>
          <p:cNvSpPr/>
          <p:nvPr/>
        </p:nvSpPr>
        <p:spPr>
          <a:xfrm>
            <a:off x="5682762" y="174425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3294667" y="316937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3849347" y="3169379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410514"/>
              </p:ext>
            </p:extLst>
          </p:nvPr>
        </p:nvGraphicFramePr>
        <p:xfrm>
          <a:off x="50776" y="1534768"/>
          <a:ext cx="1214577" cy="23154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</a:t>
                      </a:r>
                      <a:r>
                        <a:rPr lang="ko-KR" altLang="en-US" sz="700" b="0" u="none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가입현황</a:t>
                      </a:r>
                      <a:endParaRPr lang="ko-KR" altLang="en-US" sz="700" b="0" u="non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</a:t>
                      </a:r>
                      <a:r>
                        <a:rPr lang="ko-KR" altLang="en-US" sz="700" b="0" u="none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이용현환</a:t>
                      </a:r>
                      <a:endParaRPr lang="ko-KR" altLang="en-US" sz="700" b="0" u="non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471163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그룹웨어 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409982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조직관리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332405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용량관리</a:t>
                      </a:r>
                      <a:endParaRPr lang="ko-KR" altLang="en-US" sz="700" b="0" u="non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489607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014844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ㄴ</a:t>
                      </a:r>
                      <a:r>
                        <a:rPr lang="en-US" altLang="ko-KR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u="none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자원예약</a:t>
                      </a:r>
                      <a:endParaRPr lang="ko-KR" altLang="en-US" sz="700" b="0" u="non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25660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baseline="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u="none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ㄴ차량량관리자</a:t>
                      </a:r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455199"/>
                  </a:ext>
                </a:extLst>
              </a:tr>
              <a:tr h="2572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모바일</a:t>
                      </a:r>
                      <a:r>
                        <a:rPr lang="en-US" altLang="ko-KR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u="non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메신저 설정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763478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116413" y="1239671"/>
            <a:ext cx="1083301" cy="23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952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관리자설정</a:t>
            </a:r>
            <a:endParaRPr lang="ko-KR" altLang="en-US" sz="952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-58739" y="3391636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478504" y="3691830"/>
            <a:ext cx="6044277" cy="311043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                                                                                                                                                          </a:t>
            </a:r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</a:t>
            </a:r>
            <a:r>
              <a:rPr lang="ko-KR" altLang="en-US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74161" y="4075677"/>
            <a:ext cx="556831" cy="20986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조직도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1574161" y="4285544"/>
            <a:ext cx="1466794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endParaRPr lang="en-US" altLang="ko-KR" sz="8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미디어로그</a:t>
            </a:r>
            <a:endParaRPr lang="en-US" altLang="ko-KR" sz="8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ICT</a:t>
            </a:r>
            <a:r>
              <a:rPr lang="ko-KR" altLang="en-US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사업담당</a:t>
            </a:r>
            <a:br>
              <a:rPr lang="en-US" altLang="ko-KR" sz="800" b="1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ㄴ 기업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ㄴ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IT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2961977" y="4285545"/>
            <a:ext cx="80589" cy="2012670"/>
            <a:chOff x="9378354" y="1995790"/>
            <a:chExt cx="80589" cy="4931548"/>
          </a:xfrm>
        </p:grpSpPr>
        <p:sp>
          <p:nvSpPr>
            <p:cNvPr id="60" name="직사각형 59"/>
            <p:cNvSpPr/>
            <p:nvPr/>
          </p:nvSpPr>
          <p:spPr>
            <a:xfrm>
              <a:off x="9378354" y="1995790"/>
              <a:ext cx="79312" cy="493154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62" name="1/2 액자 61"/>
          <p:cNvSpPr/>
          <p:nvPr/>
        </p:nvSpPr>
        <p:spPr>
          <a:xfrm rot="8100000" flipV="1">
            <a:off x="2976814" y="4303132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1/2 액자 62"/>
          <p:cNvSpPr/>
          <p:nvPr/>
        </p:nvSpPr>
        <p:spPr>
          <a:xfrm rot="13500000">
            <a:off x="2976814" y="6233013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3042566" y="4287612"/>
            <a:ext cx="1999566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팀장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김기동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이금동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차장</a:t>
            </a:r>
            <a:b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김철수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과장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4961543" y="4287613"/>
            <a:ext cx="80589" cy="2012669"/>
            <a:chOff x="9378354" y="1995790"/>
            <a:chExt cx="80589" cy="4931545"/>
          </a:xfrm>
        </p:grpSpPr>
        <p:sp>
          <p:nvSpPr>
            <p:cNvPr id="68" name="직사각형 67"/>
            <p:cNvSpPr/>
            <p:nvPr/>
          </p:nvSpPr>
          <p:spPr>
            <a:xfrm>
              <a:off x="9378354" y="1995790"/>
              <a:ext cx="79312" cy="49315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0" name="1/2 액자 69"/>
          <p:cNvSpPr/>
          <p:nvPr/>
        </p:nvSpPr>
        <p:spPr>
          <a:xfrm rot="13500000">
            <a:off x="4978510" y="6235081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1" name="1/2 액자 70"/>
          <p:cNvSpPr/>
          <p:nvPr/>
        </p:nvSpPr>
        <p:spPr>
          <a:xfrm rot="8100000" flipV="1">
            <a:off x="4978511" y="4309849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042565" y="4287612"/>
            <a:ext cx="1918977" cy="214977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명을 입력하세요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73" name="Picture 3" descr="C:\Users\user\Downloads\if_multimedia-07_284982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309" y="4305298"/>
            <a:ext cx="174497" cy="17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716" y="6332736"/>
            <a:ext cx="464442" cy="21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159" y="6349545"/>
            <a:ext cx="588954" cy="17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04" y="6348110"/>
            <a:ext cx="1501768" cy="181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" name="Text Box"/>
          <p:cNvSpPr/>
          <p:nvPr/>
        </p:nvSpPr>
        <p:spPr>
          <a:xfrm>
            <a:off x="1599227" y="4801127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cxnSp>
        <p:nvCxnSpPr>
          <p:cNvPr id="4" name="꺾인 연결선 3"/>
          <p:cNvCxnSpPr>
            <a:stCxn id="151" idx="2"/>
            <a:endCxn id="55" idx="0"/>
          </p:cNvCxnSpPr>
          <p:nvPr/>
        </p:nvCxnSpPr>
        <p:spPr>
          <a:xfrm rot="5400000">
            <a:off x="4403439" y="2007019"/>
            <a:ext cx="1782015" cy="15876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5363734" y="4279744"/>
            <a:ext cx="1999566" cy="20126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홍길동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경영지원팀</a:t>
            </a:r>
            <a:endParaRPr lang="en-US" altLang="ko-KR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김철수</a:t>
            </a:r>
            <a:r>
              <a:rPr lang="en-US" altLang="ko-KR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제경팀</a:t>
            </a: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8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7282711" y="4279745"/>
            <a:ext cx="80589" cy="2012669"/>
            <a:chOff x="9378354" y="1995790"/>
            <a:chExt cx="80589" cy="4931545"/>
          </a:xfrm>
        </p:grpSpPr>
        <p:sp>
          <p:nvSpPr>
            <p:cNvPr id="97" name="직사각형 96"/>
            <p:cNvSpPr/>
            <p:nvPr/>
          </p:nvSpPr>
          <p:spPr>
            <a:xfrm>
              <a:off x="9378354" y="1995790"/>
              <a:ext cx="79312" cy="493154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9378354" y="2171137"/>
              <a:ext cx="80589" cy="292391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99" name="1/2 액자 98"/>
          <p:cNvSpPr/>
          <p:nvPr/>
        </p:nvSpPr>
        <p:spPr>
          <a:xfrm rot="13500000">
            <a:off x="7299678" y="6227213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0" name="1/2 액자 99"/>
          <p:cNvSpPr/>
          <p:nvPr/>
        </p:nvSpPr>
        <p:spPr>
          <a:xfrm rot="8100000" flipV="1">
            <a:off x="7299679" y="4301981"/>
            <a:ext cx="47865" cy="45719"/>
          </a:xfrm>
          <a:prstGeom prst="halfFrame">
            <a:avLst>
              <a:gd name="adj1" fmla="val 9375"/>
              <a:gd name="adj2" fmla="val 937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0096" y="4961343"/>
            <a:ext cx="303449" cy="5984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5261292" y="4048911"/>
            <a:ext cx="11095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차량운행관리자 </a:t>
            </a: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명</a:t>
            </a:r>
            <a:endParaRPr lang="ko-KR" altLang="en-US" sz="900" dirty="0"/>
          </a:p>
        </p:txBody>
      </p:sp>
      <p:sp>
        <p:nvSpPr>
          <p:cNvPr id="108" name="직사각형 107"/>
          <p:cNvSpPr/>
          <p:nvPr/>
        </p:nvSpPr>
        <p:spPr>
          <a:xfrm>
            <a:off x="71074" y="4282033"/>
            <a:ext cx="1341076" cy="9363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816" b="1" spc="-13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Alert</a:t>
            </a:r>
            <a:endParaRPr lang="en-US" altLang="ko-KR" sz="816" spc="-136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907" dirty="0">
                <a:solidFill>
                  <a:srgbClr val="2E2E2E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정보가 등록되었습니다</a:t>
            </a:r>
            <a:endParaRPr lang="ko-KR" altLang="en-US" sz="907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511635" y="4858070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16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10" name="타원 109"/>
          <p:cNvSpPr/>
          <p:nvPr/>
        </p:nvSpPr>
        <p:spPr>
          <a:xfrm>
            <a:off x="-30858" y="4265121"/>
            <a:ext cx="130607" cy="130607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</a:rPr>
              <a:t>4-1</a:t>
            </a:r>
            <a:endParaRPr lang="ko-KR" altLang="en-US" sz="726" dirty="0">
              <a:solidFill>
                <a:schemeClr val="bg1"/>
              </a:solidFill>
            </a:endParaRPr>
          </a:p>
        </p:txBody>
      </p:sp>
      <p:cxnSp>
        <p:nvCxnSpPr>
          <p:cNvPr id="111" name="꺾인 연결선 110"/>
          <p:cNvCxnSpPr>
            <a:stCxn id="141" idx="2"/>
            <a:endCxn id="108" idx="0"/>
          </p:cNvCxnSpPr>
          <p:nvPr/>
        </p:nvCxnSpPr>
        <p:spPr>
          <a:xfrm rot="5400000">
            <a:off x="1788005" y="2427673"/>
            <a:ext cx="807967" cy="2900752"/>
          </a:xfrm>
          <a:prstGeom prst="bentConnector3">
            <a:avLst>
              <a:gd name="adj1" fmla="val 211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4083197" y="6552922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4576420" y="6547378"/>
            <a:ext cx="409844" cy="21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취소</a:t>
            </a:r>
          </a:p>
        </p:txBody>
      </p:sp>
      <p:sp>
        <p:nvSpPr>
          <p:cNvPr id="117" name="타원 116"/>
          <p:cNvSpPr/>
          <p:nvPr/>
        </p:nvSpPr>
        <p:spPr>
          <a:xfrm>
            <a:off x="4043252" y="6423924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3-1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4549787" y="6411211"/>
            <a:ext cx="144000" cy="144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ko-KR" sz="726" dirty="0">
                <a:solidFill>
                  <a:schemeClr val="bg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3-2</a:t>
            </a:r>
            <a:endParaRPr lang="ko-KR" altLang="en-US" sz="726" dirty="0">
              <a:solidFill>
                <a:schemeClr val="bg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9" name="Text Box"/>
          <p:cNvSpPr/>
          <p:nvPr/>
        </p:nvSpPr>
        <p:spPr>
          <a:xfrm>
            <a:off x="3064717" y="5095430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20" name="Text Box"/>
          <p:cNvSpPr/>
          <p:nvPr/>
        </p:nvSpPr>
        <p:spPr>
          <a:xfrm>
            <a:off x="5387503" y="4548382"/>
            <a:ext cx="967701" cy="144000"/>
          </a:xfrm>
          <a:prstGeom prst="rect">
            <a:avLst/>
          </a:prstGeom>
          <a:solidFill>
            <a:srgbClr val="FF0000">
              <a:alpha val="12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89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519850"/>
              </p:ext>
            </p:extLst>
          </p:nvPr>
        </p:nvGraphicFramePr>
        <p:xfrm>
          <a:off x="884338" y="855684"/>
          <a:ext cx="8137325" cy="5931007"/>
        </p:xfrm>
        <a:graphic>
          <a:graphicData uri="http://schemas.openxmlformats.org/drawingml/2006/table">
            <a:tbl>
              <a:tblPr/>
              <a:tblGrid>
                <a:gridCol w="521252">
                  <a:extLst>
                    <a:ext uri="{9D8B030D-6E8A-4147-A177-3AD203B41FA5}">
                      <a16:colId xmlns:a16="http://schemas.microsoft.com/office/drawing/2014/main" val="3475723660"/>
                    </a:ext>
                  </a:extLst>
                </a:gridCol>
                <a:gridCol w="369220">
                  <a:extLst>
                    <a:ext uri="{9D8B030D-6E8A-4147-A177-3AD203B41FA5}">
                      <a16:colId xmlns:a16="http://schemas.microsoft.com/office/drawing/2014/main" val="2524494218"/>
                    </a:ext>
                  </a:extLst>
                </a:gridCol>
                <a:gridCol w="340262">
                  <a:extLst>
                    <a:ext uri="{9D8B030D-6E8A-4147-A177-3AD203B41FA5}">
                      <a16:colId xmlns:a16="http://schemas.microsoft.com/office/drawing/2014/main" val="3982084233"/>
                    </a:ext>
                  </a:extLst>
                </a:gridCol>
                <a:gridCol w="716721">
                  <a:extLst>
                    <a:ext uri="{9D8B030D-6E8A-4147-A177-3AD203B41FA5}">
                      <a16:colId xmlns:a16="http://schemas.microsoft.com/office/drawing/2014/main" val="2333401726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995069982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3017981755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660255000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192892582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1267717899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1804385401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2141396150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4119733864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3036703521"/>
                    </a:ext>
                  </a:extLst>
                </a:gridCol>
                <a:gridCol w="618987">
                  <a:extLst>
                    <a:ext uri="{9D8B030D-6E8A-4147-A177-3AD203B41FA5}">
                      <a16:colId xmlns:a16="http://schemas.microsoft.com/office/drawing/2014/main" val="424786163"/>
                    </a:ext>
                  </a:extLst>
                </a:gridCol>
              </a:tblGrid>
              <a:tr h="228122">
                <a:tc gridSpan="14"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【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업무용승용차 운행기록부에 관한 별지 서식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】&lt;2016.4.1.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&gt;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848147"/>
                  </a:ext>
                </a:extLst>
              </a:tr>
              <a:tr h="171091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   세   기   간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     .      .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업무용승용차 운행기록부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      호      명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786351"/>
                  </a:ext>
                </a:extLst>
              </a:tr>
              <a:tr h="4166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～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271962"/>
                  </a:ext>
                </a:extLst>
              </a:tr>
              <a:tr h="10645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사업자등록번호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166968"/>
                  </a:ext>
                </a:extLst>
              </a:tr>
              <a:tr h="14257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.      .      .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146116"/>
                  </a:ext>
                </a:extLst>
              </a:tr>
              <a:tr h="132596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17648"/>
                  </a:ext>
                </a:extLst>
              </a:tr>
              <a:tr h="235251">
                <a:tc gridSpan="7">
                  <a:txBody>
                    <a:bodyPr/>
                    <a:lstStyle/>
                    <a:p>
                      <a:pPr algn="just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기본정보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526510"/>
                  </a:ext>
                </a:extLst>
              </a:tr>
              <a:tr h="22812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①차 종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②자동차등록번호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25498"/>
                  </a:ext>
                </a:extLst>
              </a:tr>
              <a:tr h="22099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311433"/>
                  </a:ext>
                </a:extLst>
              </a:tr>
              <a:tr h="132596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38769"/>
                  </a:ext>
                </a:extLst>
              </a:tr>
              <a:tr h="249508">
                <a:tc gridSpan="7">
                  <a:txBody>
                    <a:bodyPr/>
                    <a:lstStyle/>
                    <a:p>
                      <a:pPr algn="just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 사용비율 계산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52812"/>
                  </a:ext>
                </a:extLst>
              </a:tr>
              <a:tr h="23525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③사용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일자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④사용자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 행     내 역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97217"/>
                  </a:ext>
                </a:extLst>
              </a:tr>
              <a:tr h="249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부서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성명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⑤주행 전 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계기판의 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⑥주행 후 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계기판의 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⑦주행거리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 사용거리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⑩비 고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559895"/>
                  </a:ext>
                </a:extLst>
              </a:tr>
              <a:tr h="2209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⑧출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․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퇴근용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⑨일반 업무용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700153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649962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538203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051088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310253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446381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633817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308695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609526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403777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999646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864944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122953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972227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948754"/>
                  </a:ext>
                </a:extLst>
              </a:tr>
              <a:tr h="1853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735955"/>
                  </a:ext>
                </a:extLst>
              </a:tr>
              <a:tr h="28515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⑪과세기간 총주행 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⑫과세기간 업무용 사용거리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(㎞)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⑬업무사용비율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(⑫/⑪)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25362"/>
                  </a:ext>
                </a:extLst>
              </a:tr>
              <a:tr h="2708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5244" marR="5244" marT="524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574132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다운로드 양식</a:t>
            </a:r>
          </a:p>
        </p:txBody>
      </p:sp>
    </p:spTree>
    <p:extLst>
      <p:ext uri="{BB962C8B-B14F-4D97-AF65-F5344CB8AC3E}">
        <p14:creationId xmlns:p14="http://schemas.microsoft.com/office/powerpoint/2010/main" val="2082367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다운로드 양식 </a:t>
            </a:r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&gt; </a:t>
            </a:r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차량관리 양식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4945"/>
              </p:ext>
            </p:extLst>
          </p:nvPr>
        </p:nvGraphicFramePr>
        <p:xfrm>
          <a:off x="1927530" y="2265950"/>
          <a:ext cx="6050941" cy="144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05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795648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연식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용도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업무용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2022.04.01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2568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98001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sng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57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833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업로드 양식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09502"/>
              </p:ext>
            </p:extLst>
          </p:nvPr>
        </p:nvGraphicFramePr>
        <p:xfrm>
          <a:off x="954580" y="2322967"/>
          <a:ext cx="7996841" cy="2030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61">
                  <a:extLst>
                    <a:ext uri="{9D8B030D-6E8A-4147-A177-3AD203B41FA5}">
                      <a16:colId xmlns:a16="http://schemas.microsoft.com/office/drawing/2014/main" val="4208791192"/>
                    </a:ext>
                  </a:extLst>
                </a:gridCol>
                <a:gridCol w="734612">
                  <a:extLst>
                    <a:ext uri="{9D8B030D-6E8A-4147-A177-3AD203B41FA5}">
                      <a16:colId xmlns:a16="http://schemas.microsoft.com/office/drawing/2014/main" val="109093529"/>
                    </a:ext>
                  </a:extLst>
                </a:gridCol>
                <a:gridCol w="615142">
                  <a:extLst>
                    <a:ext uri="{9D8B030D-6E8A-4147-A177-3AD203B41FA5}">
                      <a16:colId xmlns:a16="http://schemas.microsoft.com/office/drawing/2014/main" val="3586500457"/>
                    </a:ext>
                  </a:extLst>
                </a:gridCol>
                <a:gridCol w="698269">
                  <a:extLst>
                    <a:ext uri="{9D8B030D-6E8A-4147-A177-3AD203B41FA5}">
                      <a16:colId xmlns:a16="http://schemas.microsoft.com/office/drawing/2014/main" val="3140615050"/>
                    </a:ext>
                  </a:extLst>
                </a:gridCol>
                <a:gridCol w="50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2460937980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3368870883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2266823073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2558323642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3246339660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1570187999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1349897933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229020101"/>
                    </a:ext>
                  </a:extLst>
                </a:gridCol>
                <a:gridCol w="571203">
                  <a:extLst>
                    <a:ext uri="{9D8B030D-6E8A-4147-A177-3AD203B41FA5}">
                      <a16:colId xmlns:a16="http://schemas.microsoft.com/office/drawing/2014/main" val="3434863914"/>
                    </a:ext>
                  </a:extLst>
                </a:gridCol>
              </a:tblGrid>
              <a:tr h="2104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선택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등록일자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차량번호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이용자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직책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trike="sngStrike" spc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차종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사용목적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출발지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도착지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도작지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Km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주행거리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1111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1040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1166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064168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991055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51034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61910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351922"/>
                  </a:ext>
                </a:extLst>
              </a:tr>
              <a:tr h="2476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2022.06.09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허</a:t>
                      </a: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2222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경영지원담당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sng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홍길동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trike="sngStrike" spc="0" baseline="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그랜져</a:t>
                      </a:r>
                      <a:endParaRPr lang="ko-KR" altLang="en-US" sz="700" b="0" u="none" strike="sngStrike" spc="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상암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u="none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1000</a:t>
                      </a:r>
                      <a:endParaRPr lang="ko-KR" altLang="en-US" sz="700" b="0" u="none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용산</a:t>
                      </a: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spc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pc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82935" marR="82935" marT="41468" marB="41468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21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710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674D0-550A-D8EC-00E9-FE98B36E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8FECD-F22A-429A-5BBE-110ED88191C9}"/>
              </a:ext>
            </a:extLst>
          </p:cNvPr>
          <p:cNvSpPr txBox="1"/>
          <p:nvPr/>
        </p:nvSpPr>
        <p:spPr>
          <a:xfrm>
            <a:off x="728663" y="1598176"/>
            <a:ext cx="496252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[</a:t>
            </a:r>
            <a:r>
              <a:rPr lang="ko-KR" altLang="en-US" sz="1000" b="1" dirty="0"/>
              <a:t>차량정비 안내</a:t>
            </a:r>
            <a:r>
              <a:rPr lang="en-US" altLang="ko-KR" sz="1000" b="1" dirty="0"/>
              <a:t>]</a:t>
            </a:r>
            <a:endParaRPr lang="ko-KR" altLang="en-US" sz="1000" dirty="0"/>
          </a:p>
          <a:p>
            <a:r>
              <a:rPr lang="ko-KR" altLang="en-US" sz="1000" dirty="0"/>
              <a:t>안녕하세요</a:t>
            </a:r>
            <a:r>
              <a:rPr lang="en-US" altLang="ko-KR" sz="1000" dirty="0"/>
              <a:t>. </a:t>
            </a:r>
            <a:r>
              <a:rPr lang="ko-KR" altLang="en-US" sz="1000" dirty="0"/>
              <a:t>관리자입니다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관리 중이신 차량의 정비 주기가 도래하여 안내해 드립니다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안전을 위해 차량점검을 권장합니다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▶</a:t>
            </a:r>
            <a:r>
              <a:rPr lang="ko-KR" altLang="en-US" sz="1000" dirty="0"/>
              <a:t>차량</a:t>
            </a:r>
            <a:r>
              <a:rPr lang="en-US" altLang="ko-KR" sz="1000" dirty="0"/>
              <a:t>: [</a:t>
            </a:r>
            <a:r>
              <a:rPr lang="ko-KR" altLang="en-US" sz="1000" dirty="0" err="1"/>
              <a:t>차량명</a:t>
            </a:r>
            <a:r>
              <a:rPr lang="en-US" altLang="ko-KR" sz="1000" dirty="0"/>
              <a:t>] ([</a:t>
            </a:r>
            <a:r>
              <a:rPr lang="ko-KR" altLang="en-US" sz="1000" dirty="0"/>
              <a:t>차량번호</a:t>
            </a:r>
            <a:r>
              <a:rPr lang="en-US" altLang="ko-KR" sz="1000" dirty="0"/>
              <a:t>]) </a:t>
            </a:r>
          </a:p>
          <a:p>
            <a:r>
              <a:rPr lang="en-US" altLang="ko-KR" sz="1000" dirty="0"/>
              <a:t>▶</a:t>
            </a:r>
            <a:r>
              <a:rPr lang="ko-KR" altLang="en-US" sz="1000" dirty="0"/>
              <a:t>정비항목 </a:t>
            </a:r>
            <a:r>
              <a:rPr lang="en-US" altLang="ko-KR" sz="1000" dirty="0"/>
              <a:t>: [</a:t>
            </a:r>
            <a:r>
              <a:rPr lang="ko-KR" altLang="en-US" sz="1000" dirty="0"/>
              <a:t>정비항목명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▶</a:t>
            </a:r>
            <a:r>
              <a:rPr lang="ko-KR" altLang="en-US" sz="1000" dirty="0"/>
              <a:t>현재 주행거리</a:t>
            </a:r>
            <a:r>
              <a:rPr lang="en-US" altLang="ko-KR" sz="1000" dirty="0"/>
              <a:t>: [</a:t>
            </a:r>
            <a:r>
              <a:rPr lang="ko-KR" altLang="en-US" sz="1000" dirty="0"/>
              <a:t>현재 주행거리</a:t>
            </a:r>
            <a:r>
              <a:rPr lang="en-US" altLang="ko-KR" sz="1000" dirty="0"/>
              <a:t>] km </a:t>
            </a:r>
          </a:p>
          <a:p>
            <a:r>
              <a:rPr lang="en-US" altLang="ko-KR" sz="1000" dirty="0"/>
              <a:t>▶</a:t>
            </a:r>
            <a:r>
              <a:rPr lang="ko-KR" altLang="en-US" sz="1000" dirty="0"/>
              <a:t>마지막 정비 후 </a:t>
            </a:r>
            <a:r>
              <a:rPr lang="en-US" altLang="ko-KR" sz="1000" dirty="0"/>
              <a:t>[</a:t>
            </a:r>
            <a:r>
              <a:rPr lang="ko-KR" altLang="en-US" sz="1000" dirty="0"/>
              <a:t>주행한 거리</a:t>
            </a:r>
            <a:r>
              <a:rPr lang="en-US" altLang="ko-KR" sz="1000" dirty="0"/>
              <a:t>] km</a:t>
            </a:r>
            <a:r>
              <a:rPr lang="ko-KR" altLang="en-US" sz="1000" dirty="0"/>
              <a:t>를 주행하였습니다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/>
              <a:t>차량 점검 완료 후 시스템에 정비 내역을 등록해 주시기 바랍니다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바로가기</a:t>
            </a:r>
            <a:r>
              <a:rPr lang="en-US" altLang="ko-KR" sz="1000" dirty="0"/>
              <a:t>: [</a:t>
            </a:r>
            <a:r>
              <a:rPr lang="ko-KR" altLang="en-US" sz="1000" dirty="0"/>
              <a:t>링크</a:t>
            </a:r>
            <a:r>
              <a:rPr lang="en-US" altLang="ko-KR" sz="1000" dirty="0"/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1802B-9F48-79AB-54B6-A0B462468199}"/>
              </a:ext>
            </a:extLst>
          </p:cNvPr>
          <p:cNvSpPr txBox="1"/>
          <p:nvPr/>
        </p:nvSpPr>
        <p:spPr>
          <a:xfrm>
            <a:off x="728663" y="1169551"/>
            <a:ext cx="49625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[SMS </a:t>
            </a:r>
            <a:r>
              <a:rPr lang="ko-KR" altLang="en-US" sz="1100" b="1" dirty="0"/>
              <a:t>안내문구</a:t>
            </a:r>
            <a:r>
              <a:rPr lang="en-US" altLang="ko-KR" sz="1100" b="1" dirty="0"/>
              <a:t>] 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52813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674D0-550A-D8EC-00E9-FE98B36E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8FECD-F22A-429A-5BBE-110ED88191C9}"/>
              </a:ext>
            </a:extLst>
          </p:cNvPr>
          <p:cNvSpPr txBox="1"/>
          <p:nvPr/>
        </p:nvSpPr>
        <p:spPr>
          <a:xfrm>
            <a:off x="728663" y="1598176"/>
            <a:ext cx="50720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안녕하세요</a:t>
            </a:r>
            <a:r>
              <a:rPr lang="en-US" altLang="ko-KR" sz="1000" dirty="0"/>
              <a:t>, </a:t>
            </a:r>
            <a:r>
              <a:rPr lang="ko-KR" altLang="en-US" sz="1000" dirty="0"/>
              <a:t>관리자입니다</a:t>
            </a:r>
            <a:r>
              <a:rPr lang="en-US" altLang="ko-KR" sz="1000" dirty="0"/>
              <a:t>. </a:t>
            </a:r>
          </a:p>
          <a:p>
            <a:endParaRPr lang="en-US" altLang="ko-KR" sz="1000" dirty="0"/>
          </a:p>
          <a:p>
            <a:r>
              <a:rPr lang="ko-KR" altLang="en-US" sz="1000" dirty="0"/>
              <a:t>사내 자산 및 차량 안전 관리를 위해 안내메일을 발송합니다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등록된 차량의 운행 기록 확인 결과</a:t>
            </a:r>
            <a:r>
              <a:rPr lang="en-US" altLang="ko-KR" sz="1000" dirty="0"/>
              <a:t>, </a:t>
            </a:r>
            <a:r>
              <a:rPr lang="ko-KR" altLang="en-US" sz="1000" dirty="0"/>
              <a:t>마지막 정비 이후 지정된 정비 주행거리에 도래하여 차량 점검이 필요합니다</a:t>
            </a:r>
            <a:r>
              <a:rPr lang="en-US" altLang="ko-KR" sz="1000" dirty="0"/>
              <a:t>. </a:t>
            </a:r>
          </a:p>
          <a:p>
            <a:r>
              <a:rPr lang="ko-KR" altLang="en-US" sz="1000" dirty="0"/>
              <a:t>안전한 운행을 위해 빠른 시일 내에 정비를 진행해 주시기 바랍니다</a:t>
            </a:r>
            <a:r>
              <a:rPr lang="en-US" altLang="ko-KR" sz="1000" dirty="0"/>
              <a:t>.</a:t>
            </a:r>
          </a:p>
          <a:p>
            <a:endParaRPr lang="en-US" altLang="ko-KR" sz="1000" b="1" dirty="0"/>
          </a:p>
          <a:p>
            <a:r>
              <a:rPr lang="ko-KR" altLang="en-US" sz="1000" b="1" dirty="0"/>
              <a:t>■ 대상 차량 정보</a:t>
            </a:r>
            <a:endParaRPr lang="ko-KR" altLang="en-US" sz="1000" dirty="0"/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 </a:t>
            </a:r>
            <a:r>
              <a:rPr lang="ko-KR" altLang="en-US" sz="1000" b="1" dirty="0"/>
              <a:t> 차량번호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[</a:t>
            </a:r>
            <a:r>
              <a:rPr lang="ko-KR" altLang="en-US" sz="1000" dirty="0"/>
              <a:t>차량번호</a:t>
            </a:r>
            <a:r>
              <a:rPr lang="en-US" altLang="ko-KR" sz="1000" dirty="0"/>
              <a:t>]</a:t>
            </a:r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 </a:t>
            </a:r>
            <a:r>
              <a:rPr lang="ko-KR" altLang="en-US" sz="1000" b="1" dirty="0"/>
              <a:t> </a:t>
            </a:r>
            <a:r>
              <a:rPr lang="ko-KR" altLang="en-US" sz="1000" b="1" dirty="0" err="1"/>
              <a:t>차량명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[</a:t>
            </a:r>
            <a:r>
              <a:rPr lang="ko-KR" altLang="en-US" sz="1000" dirty="0" err="1"/>
              <a:t>차량명</a:t>
            </a:r>
            <a:r>
              <a:rPr lang="en-US" altLang="ko-KR" sz="1000" dirty="0"/>
              <a:t>/</a:t>
            </a:r>
            <a:r>
              <a:rPr lang="ko-KR" altLang="en-US" sz="1000" dirty="0"/>
              <a:t>모델</a:t>
            </a:r>
            <a:r>
              <a:rPr lang="en-US" altLang="ko-KR" sz="1000" dirty="0"/>
              <a:t>]</a:t>
            </a:r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  </a:t>
            </a:r>
            <a:r>
              <a:rPr lang="ko-KR" altLang="en-US" sz="1000" b="1" dirty="0"/>
              <a:t>총 주행거리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[</a:t>
            </a:r>
            <a:r>
              <a:rPr lang="ko-KR" altLang="en-US" sz="1000" dirty="0"/>
              <a:t>총주행거리</a:t>
            </a:r>
            <a:r>
              <a:rPr lang="en-US" altLang="ko-KR" sz="1000" dirty="0"/>
              <a:t>] km</a:t>
            </a:r>
          </a:p>
          <a:p>
            <a:endParaRPr lang="en-US" altLang="ko-KR" sz="1000" b="1" dirty="0"/>
          </a:p>
          <a:p>
            <a:r>
              <a:rPr lang="ko-KR" altLang="en-US" sz="1000" b="1" dirty="0"/>
              <a:t>■ 정비 안내 정보</a:t>
            </a:r>
            <a:endParaRPr lang="ko-KR" altLang="en-US" sz="1000" dirty="0"/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 </a:t>
            </a:r>
            <a:r>
              <a:rPr lang="ko-KR" altLang="en-US" sz="1000" b="1" dirty="0"/>
              <a:t>마지막 정비일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[</a:t>
            </a:r>
            <a:r>
              <a:rPr lang="ko-KR" altLang="en-US" sz="1000" dirty="0"/>
              <a:t>마지막 정비일</a:t>
            </a:r>
            <a:r>
              <a:rPr lang="en-US" altLang="ko-KR" sz="1000" dirty="0"/>
              <a:t>]</a:t>
            </a:r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</a:t>
            </a:r>
            <a:r>
              <a:rPr lang="ko-KR" altLang="en-US" sz="1000" b="1" dirty="0"/>
              <a:t> 마지막 정비 시 거리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[</a:t>
            </a:r>
            <a:r>
              <a:rPr lang="ko-KR" altLang="en-US" sz="1000" dirty="0"/>
              <a:t>마지막 정비 시 거리</a:t>
            </a:r>
            <a:r>
              <a:rPr lang="en-US" altLang="ko-KR" sz="1000" dirty="0"/>
              <a:t>] km</a:t>
            </a:r>
          </a:p>
          <a:p>
            <a:r>
              <a:rPr lang="ko-KR" altLang="en-US" sz="1000" b="1" dirty="0"/>
              <a:t>  </a:t>
            </a:r>
            <a:r>
              <a:rPr lang="en-US" altLang="ko-KR" sz="1000" b="1" dirty="0"/>
              <a:t>- </a:t>
            </a:r>
            <a:r>
              <a:rPr lang="ko-KR" altLang="en-US" sz="1000" b="1" dirty="0"/>
              <a:t>정비 후 주행거리</a:t>
            </a:r>
            <a:r>
              <a:rPr lang="en-US" altLang="ko-KR" sz="1000" b="1" dirty="0"/>
              <a:t>:</a:t>
            </a:r>
            <a:r>
              <a:rPr lang="ko-KR" altLang="en-US" sz="1000" dirty="0"/>
              <a:t> </a:t>
            </a:r>
            <a:r>
              <a:rPr lang="en-US" altLang="ko-KR" sz="1000" b="1" dirty="0"/>
              <a:t>[</a:t>
            </a:r>
            <a:r>
              <a:rPr lang="ko-KR" altLang="en-US" sz="1000" b="1" dirty="0"/>
              <a:t>주행한 거리</a:t>
            </a:r>
            <a:r>
              <a:rPr lang="en-US" altLang="ko-KR" sz="1000" b="1" dirty="0"/>
              <a:t>] km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지정된 정비 주기</a:t>
            </a:r>
            <a:r>
              <a:rPr lang="en-US" altLang="ko-KR" sz="1000" dirty="0"/>
              <a:t>: [</a:t>
            </a:r>
            <a:r>
              <a:rPr lang="ko-KR" altLang="en-US" sz="1000" dirty="0"/>
              <a:t>설정된 정비 주기</a:t>
            </a:r>
            <a:r>
              <a:rPr lang="en-US" altLang="ko-KR" sz="1000" dirty="0"/>
              <a:t>] km)</a:t>
            </a:r>
          </a:p>
          <a:p>
            <a:endParaRPr lang="en-US" altLang="ko-KR" sz="1000" dirty="0"/>
          </a:p>
          <a:p>
            <a:r>
              <a:rPr lang="ko-KR" altLang="en-US" sz="1000" dirty="0"/>
              <a:t>아래 버튼을 클릭하시면 해당 차량의 운행일지 및 정비 이력 화면으로 이동하여 </a:t>
            </a:r>
            <a:endParaRPr lang="en-US" altLang="ko-KR" sz="1000" dirty="0"/>
          </a:p>
          <a:p>
            <a:r>
              <a:rPr lang="ko-KR" altLang="en-US" sz="1000" dirty="0"/>
              <a:t>상세 내용을 확인하거나 정비 내역을 등록하실 수 있습니다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</a:t>
            </a:r>
            <a:r>
              <a:rPr lang="ko-KR" altLang="en-US" sz="1000" dirty="0"/>
              <a:t>차량 정비 등록하러 가기 </a:t>
            </a:r>
            <a:r>
              <a:rPr lang="en-US" altLang="ko-KR" sz="1000" dirty="0"/>
              <a:t>(</a:t>
            </a:r>
            <a:r>
              <a:rPr lang="ko-KR" altLang="en-US" sz="1000" dirty="0"/>
              <a:t>링크</a:t>
            </a:r>
            <a:r>
              <a:rPr lang="en-US" altLang="ko-KR" sz="1000" dirty="0"/>
              <a:t>/</a:t>
            </a:r>
            <a:r>
              <a:rPr lang="ko-KR" altLang="en-US" sz="1000" dirty="0"/>
              <a:t>버튼</a:t>
            </a:r>
            <a:r>
              <a:rPr lang="en-US" altLang="ko-KR" sz="1000" dirty="0"/>
              <a:t>)]</a:t>
            </a:r>
          </a:p>
          <a:p>
            <a:endParaRPr lang="en-US" altLang="ko-KR" sz="1000" dirty="0"/>
          </a:p>
          <a:p>
            <a:r>
              <a:rPr lang="en-US" altLang="ko-KR" sz="1000" dirty="0"/>
              <a:t>※ </a:t>
            </a:r>
            <a:r>
              <a:rPr lang="ko-KR" altLang="en-US" sz="1000" dirty="0"/>
              <a:t>본 메일은 시스템에 설정된 차량 정비 주기에 따라 자동 발송되는 발신 전용 메일입니다</a:t>
            </a:r>
            <a:r>
              <a:rPr lang="en-US" altLang="ko-KR" sz="1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1802B-9F48-79AB-54B6-A0B462468199}"/>
              </a:ext>
            </a:extLst>
          </p:cNvPr>
          <p:cNvSpPr txBox="1"/>
          <p:nvPr/>
        </p:nvSpPr>
        <p:spPr>
          <a:xfrm>
            <a:off x="728663" y="1169551"/>
            <a:ext cx="49625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[</a:t>
            </a:r>
            <a:r>
              <a:rPr lang="ko-KR" altLang="en-US" sz="1100" b="1" dirty="0"/>
              <a:t>이메일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쪽지 안내문구</a:t>
            </a:r>
            <a:r>
              <a:rPr lang="en-US" altLang="ko-KR" sz="1100" b="1" dirty="0"/>
              <a:t>] 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791123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56852</TotalTime>
  <Words>4939</Words>
  <Application>Microsoft Office PowerPoint</Application>
  <PresentationFormat>A4 용지(210x297mm)</PresentationFormat>
  <Paragraphs>2057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LG스마트체 Regular</vt:lpstr>
      <vt:lpstr>LG스마트체2.0 Regular</vt:lpstr>
      <vt:lpstr>맑은 고딕</vt:lpstr>
      <vt:lpstr>Arial</vt:lpstr>
      <vt:lpstr>Calibri</vt:lpstr>
      <vt:lpstr>Calibri Light</vt:lpstr>
      <vt:lpstr>Segoe UI</vt:lpstr>
      <vt:lpstr>Office 테마</vt:lpstr>
      <vt:lpstr>차량운행일지 화면설계서</vt:lpstr>
      <vt:lpstr>개정 이력</vt:lpstr>
      <vt:lpstr>PowerPoint 프레젠테이션</vt:lpstr>
      <vt:lpstr>PowerPoint 프레젠테이션</vt:lpstr>
      <vt:lpstr>PowerPoint 프레젠테이션</vt:lpstr>
      <vt:lpstr>PowerPoint 프레젠테이션</vt:lpstr>
      <vt:lpstr>차량 리스트 페이지 </vt:lpstr>
      <vt:lpstr>차량 운행기록 등록 페이지</vt:lpstr>
      <vt:lpstr>차량운행일지 페이지 </vt:lpstr>
      <vt:lpstr>차량운행일지 페이지 </vt:lpstr>
      <vt:lpstr>차량관리 페이지</vt:lpstr>
      <vt:lpstr>차량관리 페이지 </vt:lpstr>
      <vt:lpstr>차량관리 페이지</vt:lpstr>
      <vt:lpstr>차량관리 페이지</vt:lpstr>
      <vt:lpstr>PowerPoint 프레젠테이션</vt:lpstr>
      <vt:lpstr>차량정비 페이지</vt:lpstr>
      <vt:lpstr>차량정비 페이지</vt:lpstr>
      <vt:lpstr>차량정비 페이지</vt:lpstr>
      <vt:lpstr>차량정비 페이지</vt:lpstr>
      <vt:lpstr>차량운행 관리자 권한 설정 페이지</vt:lpstr>
      <vt:lpstr>다운로드 양식</vt:lpstr>
      <vt:lpstr>다운로드 양식 &gt; 차량관리 양식</vt:lpstr>
      <vt:lpstr>업로드 양식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미인 그룹웨어 총무구매 협력사 상수/연장/철수 화면설계서  로그인 화면</dc:title>
  <dc:creator>MEDIALOG</dc:creator>
  <cp:lastModifiedBy>김현승 m_ICT사업담당</cp:lastModifiedBy>
  <cp:revision>583</cp:revision>
  <dcterms:created xsi:type="dcterms:W3CDTF">2021-06-11T03:27:47Z</dcterms:created>
  <dcterms:modified xsi:type="dcterms:W3CDTF">2026-07-08T05:54:57Z</dcterms:modified>
</cp:coreProperties>
</file>