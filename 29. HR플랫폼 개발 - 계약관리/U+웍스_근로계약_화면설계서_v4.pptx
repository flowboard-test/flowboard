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7315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500" kern="0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U+웍스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근로계약 전자서명 화면설계서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0" y="3017520"/>
            <a:ext cx="1828800" cy="3657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U+웍스 관리자 UI 기반 디자인  |  v2.0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2026.05.06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137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페이지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" y="548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설정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" y="822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근로계약서 설정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" y="1051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소진년차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280160"/>
            <a:ext cx="1828800" cy="228600"/>
          </a:xfrm>
          <a:prstGeom prst="rect">
            <a:avLst/>
          </a:prstGeom>
          <a:solidFill>
            <a:srgbClr val="3D3F5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" y="12801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서류 및 서명 관리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" y="1645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기능별 관리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" y="1874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팀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" y="2103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출퇴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" y="2331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근무일정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" y="2560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급여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" y="2788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인사관리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" y="3154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설정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" y="3383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ERP 연동설정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440" y="36118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근로시간관리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" y="3977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부가서비스 설정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1440" y="4206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전자서명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440" y="4434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전자결재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01168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5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 디자인 시스템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011680" y="594360"/>
            <a:ext cx="1371600" cy="3657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23" name="Shape 21"/>
          <p:cNvSpPr/>
          <p:nvPr/>
        </p:nvSpPr>
        <p:spPr>
          <a:xfrm>
            <a:off x="2103120" y="822960"/>
            <a:ext cx="365760" cy="365760"/>
          </a:xfrm>
          <a:prstGeom prst="rect">
            <a:avLst/>
          </a:prstGeom>
          <a:solidFill>
            <a:srgbClr val="2B2D42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8229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사이드바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#2B2D42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840480" y="82296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8229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배경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#FFFFFF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577840" y="822960"/>
            <a:ext cx="365760" cy="365760"/>
          </a:xfrm>
          <a:prstGeom prst="rect">
            <a:avLst/>
          </a:prstGeom>
          <a:solidFill>
            <a:srgbClr val="212529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8229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본문 텍스트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#212529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315200" y="822960"/>
            <a:ext cx="365760" cy="365760"/>
          </a:xfrm>
          <a:prstGeom prst="rect">
            <a:avLst/>
          </a:prstGeom>
          <a:solidFill>
            <a:srgbClr val="DEE2E6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8229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테두리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#DEE2E6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103120" y="1737360"/>
            <a:ext cx="365760" cy="365760"/>
          </a:xfrm>
          <a:prstGeom prst="rect">
            <a:avLst/>
          </a:prstGeom>
          <a:solidFill>
            <a:srgbClr val="2B2D42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1737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버튼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#2B2D42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840480" y="1737360"/>
            <a:ext cx="365760" cy="365760"/>
          </a:xfrm>
          <a:prstGeom prst="rect">
            <a:avLst/>
          </a:prstGeom>
          <a:solidFill>
            <a:srgbClr val="4361EE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0" y="1737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강조 파랑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#4361EE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577840" y="1737360"/>
            <a:ext cx="365760" cy="365760"/>
          </a:xfrm>
          <a:prstGeom prst="rect">
            <a:avLst/>
          </a:prstGeom>
          <a:solidFill>
            <a:srgbClr val="7B2CB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0" y="1737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매크로 보라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#7B2CBF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315200" y="1737360"/>
            <a:ext cx="365760" cy="365760"/>
          </a:xfrm>
          <a:prstGeom prst="rect">
            <a:avLst/>
          </a:prstGeom>
          <a:solidFill>
            <a:srgbClr val="06D6A0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0" y="1737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성공 초록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#06D6A0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10312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레이아웃 구조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103120" y="3108960"/>
            <a:ext cx="1097280" cy="1645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1" name="Text 39"/>
          <p:cNvSpPr/>
          <p:nvPr/>
        </p:nvSpPr>
        <p:spPr>
          <a:xfrm>
            <a:off x="2103120" y="3657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사이드바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200400" y="3108960"/>
            <a:ext cx="3200400" cy="1645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0" y="3657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영역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(흰색 배경)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폰트 &amp; 컴포넌트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58000" y="310896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타이틀: 18px Bold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라벨: 13px Regular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입력: 13px + 테두리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버튼: 네이비/회색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라디오: 인라인 배치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137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페이지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" y="548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설정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" y="822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근로계약서 설정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" y="1051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소진년차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280160"/>
            <a:ext cx="1828800" cy="228600"/>
          </a:xfrm>
          <a:prstGeom prst="rect">
            <a:avLst/>
          </a:prstGeom>
          <a:solidFill>
            <a:srgbClr val="3D3F5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" y="12801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서류 및 서명 관리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" y="1645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기능별 관리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" y="1874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팀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" y="2103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출퇴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" y="2331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근무일정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" y="2560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급여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" y="2788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인사관리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" y="3154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설정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" y="3383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ERP 연동설정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440" y="36118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근로시간관리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" y="3977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부가서비스 설정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1440" y="4206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전자서명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440" y="4434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전자결재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0" y="0"/>
            <a:ext cx="7315200" cy="41148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45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근로계약 작성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45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관리자 님  로그아웃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03120" y="548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 유형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83280" y="548640"/>
            <a:ext cx="5029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548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 근로계약 ▼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03120" y="914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 직원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83280" y="914400"/>
            <a:ext cx="5029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914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홍길동 (개발팀/대리) ▼  [HR DB 조회]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11680" y="1325880"/>
            <a:ext cx="6858000" cy="9144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31" name="Text 29"/>
          <p:cNvSpPr/>
          <p:nvPr/>
        </p:nvSpPr>
        <p:spPr>
          <a:xfrm>
            <a:off x="210312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매크로 자동채움 필드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03120" y="16916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근로자명 *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383280" y="1691640"/>
            <a:ext cx="3200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B2C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16916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홍길동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675120" y="16916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✅자동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103120" y="19933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연봉 *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383280" y="1993392"/>
            <a:ext cx="3200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B2C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0" y="19933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36,000,000원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675120" y="19933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✅자동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103120" y="229514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월급여 *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383280" y="2295144"/>
            <a:ext cx="3200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B2C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0" y="229514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3,000,000원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675120" y="229514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✅자동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103120" y="259689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계약기간 *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383280" y="2596896"/>
            <a:ext cx="3200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B2C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0" y="25968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2026.05.06 ~ 2027.05.05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675120" y="259689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✅자동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103120" y="28986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근무장소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383280" y="2898648"/>
            <a:ext cx="3200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B2C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0" y="28986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본사 3층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675120" y="289864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✅자동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2103120" y="32004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수습기간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383280" y="3200400"/>
            <a:ext cx="3200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B2C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74720" y="32004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3개월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675120" y="32004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📝수동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2011680" y="3520440"/>
            <a:ext cx="6858000" cy="9144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57" name="Text 55"/>
          <p:cNvSpPr/>
          <p:nvPr/>
        </p:nvSpPr>
        <p:spPr>
          <a:xfrm>
            <a:off x="2103120" y="3566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 내용 (에디터)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103120" y="3840480"/>
            <a:ext cx="6675120" cy="27432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94560" y="384048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I  U  ≡  A-  │ 정렬 │ 목록 │ 이미지 │ [매크로 삽입 ▼]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103120" y="4114800"/>
            <a:ext cx="6675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286000" y="41605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제1조 {{contract_start}} ~ {{contract_end}}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제3조 연봉: {{annual_salary}}, 월급여: {{monthly_salary}}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858000" y="4846320"/>
            <a:ext cx="731520" cy="2286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3" name="Text 61"/>
          <p:cNvSpPr/>
          <p:nvPr/>
        </p:nvSpPr>
        <p:spPr>
          <a:xfrm>
            <a:off x="68580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발송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680960" y="4846320"/>
            <a:ext cx="731520" cy="2286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6809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취소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137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페이지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" y="548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설정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" y="822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근로계약서 설정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" y="1051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소진년차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280160"/>
            <a:ext cx="1828800" cy="228600"/>
          </a:xfrm>
          <a:prstGeom prst="rect">
            <a:avLst/>
          </a:prstGeom>
          <a:solidFill>
            <a:srgbClr val="3D3F5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" y="12801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서류 및 서명 관리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" y="1645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기능별 관리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" y="1874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팀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" y="2103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출퇴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" y="2331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근무일정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" y="2560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급여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" y="2788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인사관리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" y="3154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설정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" y="3383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ERP 연동설정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440" y="36118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근로시간관리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" y="3977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부가서비스 설정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1440" y="4206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전자서명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440" y="4434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전자결재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0" y="0"/>
            <a:ext cx="7315200" cy="41148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45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근로계약 관리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103120" y="548640"/>
            <a:ext cx="15544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3120" y="594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103120" y="10515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진행중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0" y="548640"/>
            <a:ext cx="15544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594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840480" y="10515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77840" y="548640"/>
            <a:ext cx="15544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7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594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7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577840" y="10515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거절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0" y="548640"/>
            <a:ext cx="15544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757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594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75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315200" y="10515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만료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103120" y="1554480"/>
            <a:ext cx="1371600" cy="2743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6" name="Text 34"/>
          <p:cNvSpPr/>
          <p:nvPr/>
        </p:nvSpPr>
        <p:spPr>
          <a:xfrm>
            <a:off x="2103120" y="1554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새 계약서 작성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03120" y="1920240"/>
          <a:ext cx="6675120" cy="2286000"/>
        </p:xfrm>
        <a:graphic>
          <a:graphicData uri="http://schemas.openxmlformats.org/drawingml/2006/table">
            <a:tbl>
              <a:tblPr/>
              <a:tblGrid>
                <a:gridCol w="365760"/>
                <a:gridCol w="2286000"/>
                <a:gridCol w="1097280"/>
                <a:gridCol w="109728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125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□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125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문서명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125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서명자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125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상태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125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발송일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125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관리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□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근로계약서_홍길동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홍길동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서명대기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05-06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•••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□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근로계약서_김철수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김철수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서명완료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05-05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•••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□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근로계약서_이영희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이영희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🔵 열람중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05-04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•••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□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근로계약서_박수진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박수진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🔴 거절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•••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Text 35"/>
          <p:cNvSpPr/>
          <p:nvPr/>
        </p:nvSpPr>
        <p:spPr>
          <a:xfrm>
            <a:off x="2103120" y="429768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 2  3  ...  10 &gt;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137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페이지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" y="548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설정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" y="822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근로계약서 설정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" y="1051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소진년차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280160"/>
            <a:ext cx="1828800" cy="228600"/>
          </a:xfrm>
          <a:prstGeom prst="rect">
            <a:avLst/>
          </a:prstGeom>
          <a:solidFill>
            <a:srgbClr val="3D3F5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" y="12801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서류 및 서명 관리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" y="1645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기능별 관리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" y="1874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팀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" y="2103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출퇴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" y="2331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근무일정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" y="2560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급여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" y="2788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인사관리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" y="3154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설정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" y="3383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ERP 연동설정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440" y="36118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근로시간관리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" y="3977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부가서비스 설정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1440" y="4206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전자서명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440" y="4434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전자결재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0" y="0"/>
            <a:ext cx="7315200" cy="41148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매크로 필드 (자동채움) 기능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03120" y="45720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시스템 데이터를 계약서에 자동 매핑 (모두싸인 '추가 내용 입력하기' 벤치마킹)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03120" y="822960"/>
            <a:ext cx="21031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4361EE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914400"/>
            <a:ext cx="365760" cy="3657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2103120" y="1325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 정보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286000" y="1691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{{employee_name}}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286000" y="20574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{{department}}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2286000" y="24231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{{position}}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286000" y="2788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{{employee_phone}}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389120" y="822960"/>
            <a:ext cx="21031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6D6A0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914400"/>
            <a:ext cx="365760" cy="36576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4389120" y="1325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급여/연봉 정보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4572000" y="1691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{{annual_salary}}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4572000" y="20574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{{monthly_salary}}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4572000" y="24231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{{base_pay}}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4572000" y="2788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{{work_hours}}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6675120" y="822960"/>
            <a:ext cx="21031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914400"/>
            <a:ext cx="365760" cy="36576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675120" y="1325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필드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6858000" y="1691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{{probation}}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6858000" y="20574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{{bonus_rate}}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6858000" y="24231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정의 가능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6858000" y="2788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100개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2103120" y="3931920"/>
            <a:ext cx="6675120" cy="9144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286000" y="4023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동작 흐름:  템플릿 생성 → 매크로 배치 → 직원 선택 → HR DB 자동 조회 → 값 렌더링 → 발송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2286000" y="4389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에디터 툴바 [매크로 삽입] 버튼으로 변수 삽입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보라색 태그로 시각 구분 (🟣)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발송 시 실제 값으로 치환 → 근로자에게는 일반 텍스트로 표시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137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페이지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" y="548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설정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" y="822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근로계약서 설정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" y="1051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소진년차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280160"/>
            <a:ext cx="1828800" cy="228600"/>
          </a:xfrm>
          <a:prstGeom prst="rect">
            <a:avLst/>
          </a:prstGeom>
          <a:solidFill>
            <a:srgbClr val="3D3F5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" y="12801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서류 및 서명 관리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" y="1645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기능별 관리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" y="1874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팀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" y="2103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출퇴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" y="2331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근무일정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" y="2560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급여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" y="2788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인사관리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" y="3154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설정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" y="3383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ERP 연동설정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440" y="36118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근로시간관리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" y="3977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부가서비스 설정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1440" y="4206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전자서명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440" y="4434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전자결재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0" y="0"/>
            <a:ext cx="7315200" cy="41148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45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대량 계약 발송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03120" y="5486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템플릿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08960" y="548640"/>
            <a:ext cx="457200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548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 근로계약서 (매크로 8개) ▼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103120" y="914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소스    ● HR DB 직원 선택    ○ CSV 업로드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03120" y="1280160"/>
          <a:ext cx="6675120" cy="2011680"/>
        </p:xfrm>
        <a:graphic>
          <a:graphicData uri="http://schemas.openxmlformats.org/drawingml/2006/table">
            <a:tbl>
              <a:tblPr/>
              <a:tblGrid>
                <a:gridCol w="457200"/>
                <a:gridCol w="1188720"/>
                <a:gridCol w="1371600"/>
                <a:gridCol w="1371600"/>
                <a:gridCol w="1097280"/>
                <a:gridCol w="7315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☑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이름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연봉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월급여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부서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상태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☑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홍길동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36,000,000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3,000,000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개발팀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☑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김철수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42,000,000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3,500,000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마케팅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☑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이영희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38,000,000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3,166,667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디자인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☑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박수진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F47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F47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인사팀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FD1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2103120" y="33832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정상: 3건    ⚠️ 누락: 1건 (박수진: 급여 미등록)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675120" y="3749040"/>
            <a:ext cx="1828800" cy="2743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0" name="Text 27"/>
          <p:cNvSpPr/>
          <p:nvPr/>
        </p:nvSpPr>
        <p:spPr>
          <a:xfrm>
            <a:off x="667512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일괄 발송 (3건)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754880" y="3749040"/>
            <a:ext cx="1645920" cy="27432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54880" y="3749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미리보기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근로자 서명 화면 (모바일 웹)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926080" y="731520"/>
            <a:ext cx="329184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DEE2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731520"/>
            <a:ext cx="3291840" cy="3200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3017520" y="7498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U+웍스 근로계약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108960" y="118872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 로 계 약 서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계약기간: 2026.05.06 ~ 2027.05.05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근무장소: 본사 3층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업무: 소프트웨어 개발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근로시간: 09:00 ~ 18:00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연봉: 36,000,000원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월급여: 3,000,000원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수습기간: 3개월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108960" y="36576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 위 내용을 확인하였습니다.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91840" y="4023360"/>
            <a:ext cx="2560320" cy="3200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4023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서명하기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44348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[거절하기]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매크로 값이 실제 텍스트로 렌더링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근로자는 매크로 존재를 인지하지 못함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모바일 최적화 (터치 44px+)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137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페이지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" y="548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설정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" y="822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근로계약서 설정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" y="1051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소진년차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280160"/>
            <a:ext cx="1828800" cy="228600"/>
          </a:xfrm>
          <a:prstGeom prst="rect">
            <a:avLst/>
          </a:prstGeom>
          <a:solidFill>
            <a:srgbClr val="3D3F5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" y="12801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서류 및 서명 관리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" y="1645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기능별 관리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" y="1874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팀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" y="2103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출퇴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" y="2331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근무일정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" y="2560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급여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" y="2788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인사관리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" y="3154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설정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" y="3383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ERP 연동설정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440" y="36118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근로시간관리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" y="3977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부가서비스 설정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1440" y="4206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전자서명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440" y="4434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전자결재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0" y="0"/>
            <a:ext cx="7315200" cy="41148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 현황 &gt; 근로계약서_홍길동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03120" y="502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상태: 🟡 서명 대기중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03120" y="868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정보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03120" y="1143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문서명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91840" y="1143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근로계약서_홍길동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103120" y="13990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생성일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91840" y="1399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2026.05.06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103120" y="165506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만료일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91840" y="165506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2026.05.13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103120" y="191109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발송방식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91840" y="191109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 알림톡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103120" y="2286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 진행 현황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03120" y="2560320"/>
          <a:ext cx="6675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645920"/>
                <a:gridCol w="1371600"/>
                <a:gridCol w="1645920"/>
                <a:gridCol w="137160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순서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서명자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역할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상태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열람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홍길동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근로자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⏳ 대기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미열람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김대표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사업주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⏸ 대기중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" name="Text 32"/>
          <p:cNvSpPr/>
          <p:nvPr/>
        </p:nvSpPr>
        <p:spPr>
          <a:xfrm>
            <a:off x="2103120" y="3657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 로그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2103120" y="39319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05.06 10:00  문서 생성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05.06 10:01  카카오 알림톡 발송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05.06 10:05  홍길동 알림 수신 확인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2103120" y="4754880"/>
            <a:ext cx="914400" cy="2286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8" name="Text 35"/>
          <p:cNvSpPr/>
          <p:nvPr/>
        </p:nvSpPr>
        <p:spPr>
          <a:xfrm>
            <a:off x="21031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재발송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137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페이지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" y="548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설정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" y="822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근로계약서 설정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" y="1051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소진년차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280160"/>
            <a:ext cx="1828800" cy="228600"/>
          </a:xfrm>
          <a:prstGeom prst="rect">
            <a:avLst/>
          </a:prstGeom>
          <a:solidFill>
            <a:srgbClr val="3D3F5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" y="12801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서류 및 서명 관리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" y="1645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기능별 관리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" y="1874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팀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" y="2103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출퇴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" y="2331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근무일정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" y="2560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급여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" y="2788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인사관리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" y="3154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설정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" y="3383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ERP 연동설정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440" y="36118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근로시간관리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" y="3977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부가서비스 설정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1440" y="4206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전자서명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440" y="4434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전자결재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0" y="0"/>
            <a:ext cx="7315200" cy="41148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벤치마킹 &amp; 기술 스택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03120" y="502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모두싸인 벤치마킹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03120" y="777240"/>
          <a:ext cx="320040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기능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적용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드래그&amp;드롭 서명 위치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서명자별 색상 구분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3가지 서명 방식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매크로 자동채움 필드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카카오/SMS/이메일 발송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감사 로그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대량 발송 + CSV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연동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5669280" y="502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10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777240"/>
          <a:ext cx="3017520" cy="2560320"/>
        </p:xfrm>
        <a:graphic>
          <a:graphicData uri="http://schemas.openxmlformats.org/drawingml/2006/table">
            <a:tbl>
              <a:tblPr/>
              <a:tblGrid>
                <a:gridCol w="1097280"/>
                <a:gridCol w="19202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영역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기술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361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+ TypeScript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361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 Design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361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서명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signature_pad.js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361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PDF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PDF.js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361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상태관리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Zustand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361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 + WebSocket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361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인증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OAuth 2.0 + OTP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3657600" y="3200400"/>
            <a:ext cx="1828800" cy="3657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U+웍스 근로계약 전자서명 화면설계서 v2.0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2026.05.06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U+웍스 근로계약 전자서명 화면설계서 v2</dc:title>
  <dc:subject>PptxGenJS Presentation</dc:subject>
  <dc:creator>U+웍스</dc:creator>
  <cp:lastModifiedBy>U+웍스</cp:lastModifiedBy>
  <cp:revision>1</cp:revision>
  <dcterms:created xsi:type="dcterms:W3CDTF">2026-05-06T05:34:24Z</dcterms:created>
  <dcterms:modified xsi:type="dcterms:W3CDTF">2026-05-06T05:34:24Z</dcterms:modified>
</cp:coreProperties>
</file>