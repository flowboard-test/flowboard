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6007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U+웍스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근로계약 전자서명 화면설계서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474720" y="3108960"/>
            <a:ext cx="219456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벤치마킹: 모두싸인(Modusign)  |  v1.0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개요 및 화면 흐름도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- 대시보드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06654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- 계약서 작성 (4단계)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414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- 알림 수신 &amp; 본인인증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614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7614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- 계약서 열람 &amp; 서명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- 서명 완료 &amp; 거절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4564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4564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- 서명 현황 &amp; 문서 보관함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8039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80390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UI &amp; 반응형 설계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513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1513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모두싸인 벤치마킹 요약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4988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4988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개요 및 화면 흐름도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1C1C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Flow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대시보드 → ② 계약서 작성 → ③ 서명자 지정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④ 서명 위치 설정 → ⑤ 발송 → ⑥ 현황 관리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1C1C2E"/>
          </a:solidFill>
          <a:ln w="19050">
            <a:solidFill>
              <a:srgbClr val="E600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Flow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3611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알림(카카오/SMS) → ② 본인인증 → ③ 계약서 열람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④ 서명 입력 → ⑤ 서명 완료 → ⑥ 완료 문서 보관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관리자 대시보드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1188720"/>
          </a:xfrm>
          <a:prstGeom prst="rect">
            <a:avLst/>
          </a:prstGeom>
          <a:solidFill>
            <a:srgbClr val="1C1C2E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20240" cy="1188720"/>
          </a:xfrm>
          <a:prstGeom prst="rect">
            <a:avLst/>
          </a:prstGeom>
          <a:solidFill>
            <a:srgbClr val="1C1C2E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20240" cy="1188720"/>
          </a:xfrm>
          <a:prstGeom prst="rect">
            <a:avLst/>
          </a:prstGeom>
          <a:solidFill>
            <a:srgbClr val="1C1C2E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097280"/>
            <a:ext cx="1920240" cy="1188720"/>
          </a:xfrm>
          <a:prstGeom prst="rect">
            <a:avLst/>
          </a:prstGeom>
          <a:solidFill>
            <a:srgbClr val="1C1C2E"/>
          </a:solidFill>
          <a:ln w="25400">
            <a:solidFill>
              <a:srgbClr val="8D99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D99A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만료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201168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발송일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근로계약서_홍길동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홍길동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서명대기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근로계약서_김철수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김철수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서명완료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근로계약서_이영희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이영희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🔵 열람중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계약서 작성 Step 1: 템플릿 선택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2057400" y="1005840"/>
            <a:ext cx="320040" cy="32004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5" name="Text 3"/>
          <p:cNvSpPr/>
          <p:nvPr/>
        </p:nvSpPr>
        <p:spPr>
          <a:xfrm>
            <a:off x="205740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템플릿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170432"/>
            <a:ext cx="1097280" cy="0"/>
          </a:xfrm>
          <a:prstGeom prst="line">
            <a:avLst/>
          </a:prstGeom>
          <a:noFill/>
          <a:ln w="19050">
            <a:solidFill>
              <a:srgbClr val="2D2D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1005840"/>
            <a:ext cx="320040" cy="320040"/>
          </a:xfrm>
          <a:prstGeom prst="ellipse">
            <a:avLst/>
          </a:prstGeom>
          <a:solidFill>
            <a:srgbClr val="2D2D44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371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23360" y="1170432"/>
            <a:ext cx="1097280" cy="0"/>
          </a:xfrm>
          <a:prstGeom prst="line">
            <a:avLst/>
          </a:prstGeom>
          <a:noFill/>
          <a:ln w="19050">
            <a:solidFill>
              <a:srgbClr val="2D2D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1005840"/>
            <a:ext cx="320040" cy="320040"/>
          </a:xfrm>
          <a:prstGeom prst="ellipse">
            <a:avLst/>
          </a:prstGeom>
          <a:solidFill>
            <a:srgbClr val="2D2D44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1371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1170432"/>
            <a:ext cx="1097280" cy="0"/>
          </a:xfrm>
          <a:prstGeom prst="line">
            <a:avLst/>
          </a:prstGeom>
          <a:noFill/>
          <a:ln w="19050">
            <a:solidFill>
              <a:srgbClr val="2D2D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005840"/>
            <a:ext cx="320040" cy="320040"/>
          </a:xfrm>
          <a:prstGeom prst="ellipse">
            <a:avLst/>
          </a:prstGeom>
          <a:solidFill>
            <a:srgbClr val="2D2D44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1371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발송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1828800"/>
            <a:ext cx="1828800" cy="256032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103120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008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60120" y="3749040"/>
            <a:ext cx="118872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0" y="1828800"/>
            <a:ext cx="1828800" cy="256032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103120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74320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단시간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063240" y="3749040"/>
            <a:ext cx="118872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28" name="Text 24"/>
          <p:cNvSpPr/>
          <p:nvPr/>
        </p:nvSpPr>
        <p:spPr>
          <a:xfrm>
            <a:off x="306324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846320" y="1828800"/>
            <a:ext cx="1828800" cy="256032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103120"/>
            <a:ext cx="457200" cy="4572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84632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일용직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166360" y="3749040"/>
            <a:ext cx="118872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33" name="Text 28"/>
          <p:cNvSpPr/>
          <p:nvPr/>
        </p:nvSpPr>
        <p:spPr>
          <a:xfrm>
            <a:off x="516636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949440" y="1828800"/>
            <a:ext cx="1828800" cy="256032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103120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4944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7269480" y="3749040"/>
            <a:ext cx="118872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38" name="Text 32"/>
          <p:cNvSpPr/>
          <p:nvPr/>
        </p:nvSpPr>
        <p:spPr>
          <a:xfrm>
            <a:off x="726948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계약서 작성 Step 2: 내용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84048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필드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근로자명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3200400" cy="256032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3200400" cy="256032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근무장소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3200400" cy="256032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0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업무내용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3200400" cy="256032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49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근무시간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3200400" cy="256032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526280"/>
            <a:ext cx="3200400" cy="256032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미리보기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5544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 로 계 약 서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근로자: 홍길동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기간: 2026.05 ~ 2027.04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장소: 본사 3층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업무: 소프트웨어 개발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시간: 09:00 ~ 18:00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급여: 3,000,000원/월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계약서 작성 Step 3: 서명자 지정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2926080"/>
          </a:xfrm>
          <a:prstGeom prst="rect">
            <a:avLst/>
          </a:prstGeom>
          <a:solidFill>
            <a:srgbClr val="1C1C2E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서명자 1 (근로자)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이름: 홍길동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연락처: 010-1234-5678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이메일: hong@email.com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●카카오톡 ○SMS ○이메일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926080"/>
          </a:xfrm>
          <a:prstGeom prst="rect">
            <a:avLst/>
          </a:prstGeom>
          <a:solidFill>
            <a:srgbClr val="1C1C2E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서명자 2 (사업주)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이름: 김대표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연락처: 010-9876-5432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이메일: ceo@company.com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○카카오톡 ●SMS ○이메일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순서:  ● 순차 서명    ○ 동시 서명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계약서 작성 Step 4: 서명 위치 설정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011680" cy="384048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 도구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554480" cy="347472"/>
          </a:xfrm>
          <a:prstGeom prst="rect">
            <a:avLst/>
          </a:prstGeom>
          <a:solidFill>
            <a:srgbClr val="252540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554480" cy="347472"/>
          </a:xfrm>
          <a:prstGeom prst="rect">
            <a:avLst/>
          </a:prstGeom>
          <a:solidFill>
            <a:srgbClr val="252540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554480" cy="347472"/>
          </a:xfrm>
          <a:prstGeom prst="rect">
            <a:avLst/>
          </a:prstGeom>
          <a:solidFill>
            <a:srgbClr val="252540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1554480" cy="347472"/>
          </a:xfrm>
          <a:prstGeom prst="rect">
            <a:avLst/>
          </a:prstGeom>
          <a:solidFill>
            <a:srgbClr val="252540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1554480" cy="347472"/>
          </a:xfrm>
          <a:prstGeom prst="rect">
            <a:avLst/>
          </a:prstGeom>
          <a:solidFill>
            <a:srgbClr val="252540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색상 구분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82880" cy="18288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422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4160520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1874520" y="41422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1005840"/>
            <a:ext cx="5943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26080" y="11887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 로 계 약 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108960" y="1828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...계약 내용...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286000" cy="502920"/>
          </a:xfrm>
          <a:prstGeom prst="rect">
            <a:avLst/>
          </a:prstGeom>
          <a:solidFill>
            <a:srgbClr val="FFF0F0"/>
          </a:solidFill>
          <a:ln w="19050">
            <a:solidFill>
              <a:srgbClr val="EF476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00400" y="2926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서명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749040"/>
            <a:ext cx="2286000" cy="502920"/>
          </a:xfrm>
          <a:prstGeom prst="rect">
            <a:avLst/>
          </a:prstGeom>
          <a:solidFill>
            <a:srgbClr val="F0F8FF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200400" y="3749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사업주 서명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드래그&amp;드롭 배치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매크로 필드 (자동채움) 기능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시스템 데이터를 계약서에 자동 매핑하는 기능 (모두싸인 '추가 내용 입력하기' 벤치마킹)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3200400"/>
          </a:xfrm>
          <a:prstGeom prst="rect">
            <a:avLst/>
          </a:prstGeom>
          <a:solidFill>
            <a:srgbClr val="1C1C2E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정보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{{employee_name}}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{{department}}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{{position}}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{{employee_phone}}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651760" cy="3200400"/>
          </a:xfrm>
          <a:prstGeom prst="rect">
            <a:avLst/>
          </a:prstGeom>
          <a:solidFill>
            <a:srgbClr val="1C1C2E"/>
          </a:solidFill>
          <a:ln w="25400">
            <a:solidFill>
              <a:srgbClr val="E600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급여/연봉 정보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{{annual_salary}}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{{monthly_salary}}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{{base_pay}}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{{work_hours}}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2651760" cy="3200400"/>
          </a:xfrm>
          <a:prstGeom prst="rect">
            <a:avLst/>
          </a:prstGeom>
          <a:solidFill>
            <a:srgbClr val="1C1C2E"/>
          </a:solidFill>
          <a:ln w="25400">
            <a:solidFill>
              <a:srgbClr val="7B2CB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1554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필드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0116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{{probation}}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{{bonus_rate}}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정의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100개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754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🟣 매크로 필드는 보라색으로 구분  |  서명=🔴  사업주=🔵  매크로=🟣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매크로 필드 배치 (Step 4 확장)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286000" cy="393192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매크로 필드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필드 검색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근로자 정보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근로자명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생년월일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연락처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급여 정보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337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근로조건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회사 정보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977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커스텀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1920240" cy="32004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89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새 커스텀 필드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1005840"/>
            <a:ext cx="56692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 로 계 약 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4720" y="1828800"/>
            <a:ext cx="2743200" cy="347472"/>
          </a:xfrm>
          <a:prstGeom prst="rect">
            <a:avLst/>
          </a:prstGeom>
          <a:solidFill>
            <a:srgbClr val="F3E5F5"/>
          </a:solidFill>
          <a:ln w="19050">
            <a:solidFill>
              <a:srgbClr val="7B2CBF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3474720" y="18288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{{employee_name}}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2286000"/>
            <a:ext cx="2743200" cy="347472"/>
          </a:xfrm>
          <a:prstGeom prst="rect">
            <a:avLst/>
          </a:prstGeom>
          <a:solidFill>
            <a:srgbClr val="F3E5F5"/>
          </a:solidFill>
          <a:ln w="19050">
            <a:solidFill>
              <a:srgbClr val="7B2CBF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3474720" y="22860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{{annual_salary}}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0" y="2743200"/>
            <a:ext cx="2743200" cy="347472"/>
          </a:xfrm>
          <a:prstGeom prst="rect">
            <a:avLst/>
          </a:prstGeom>
          <a:solidFill>
            <a:srgbClr val="F3E5F5"/>
          </a:solidFill>
          <a:ln w="19050">
            <a:solidFill>
              <a:srgbClr val="7B2CBF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474720" y="27432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{{contract_start}} ~ {{contract_end}}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3200400"/>
            <a:ext cx="2743200" cy="347472"/>
          </a:xfrm>
          <a:prstGeom prst="rect">
            <a:avLst/>
          </a:prstGeom>
          <a:solidFill>
            <a:srgbClr val="F3E5F5"/>
          </a:solidFill>
          <a:ln w="19050">
            <a:solidFill>
              <a:srgbClr val="7B2CB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3474720" y="3200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{{workplace}}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3657600"/>
            <a:ext cx="2743200" cy="347472"/>
          </a:xfrm>
          <a:prstGeom prst="rect">
            <a:avLst/>
          </a:prstGeom>
          <a:solidFill>
            <a:srgbClr val="F3E5F5"/>
          </a:solidFill>
          <a:ln w="19050">
            <a:solidFill>
              <a:srgbClr val="7B2CBF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474720" y="3657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{{monthly_salary}}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0" y="4206240"/>
            <a:ext cx="2011680" cy="347472"/>
          </a:xfrm>
          <a:prstGeom prst="rect">
            <a:avLst/>
          </a:prstGeom>
          <a:solidFill>
            <a:srgbClr val="FFF0F0"/>
          </a:solidFill>
          <a:ln w="19050">
            <a:solidFill>
              <a:srgbClr val="EF476F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474720" y="4206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[서명필드]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4572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🟣매크로  🔴서명  🔵사업주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매크로 값 입력 (서명 요청 시)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직원: [홍길동 ▼]    [HR DB 자동 조회]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347472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매크로 값 입력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근로자명 *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828800"/>
            <a:ext cx="164592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홍길동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0" y="1828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✅자동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연봉 *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2286000"/>
            <a:ext cx="164592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36,000,000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0" y="2286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✅자동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월급여 *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2743200"/>
            <a:ext cx="164592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2743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3,000,000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0" y="2743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✅자동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008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계약시작 *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3200400"/>
            <a:ext cx="164592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3200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✅자동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계약종료 *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0" y="3657600"/>
            <a:ext cx="164592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2027.05.05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23360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✅자동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40080" y="4114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수습기간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0" y="4114800"/>
            <a:ext cx="164592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4114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23360" y="4114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📝수동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846320" y="137160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미리보기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19202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 로 계 약 서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근로자: 홍길동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연봉: 36,000,000원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월급여: 3,000,000원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기간: 2026.05.06 ~ 2027.05.05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수습기간: 3개월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자동 조회 값 수정 시 HR DB와 불일치 경고 표시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대량 발송 시 매크로 활용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소스:  ● HR DB에서 직원 선택    ○ CSV 파일 업로드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1645920"/>
                <a:gridCol w="1645920"/>
                <a:gridCol w="128016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선택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월급여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B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B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홍길동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36,000,000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김철수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42,000,000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마케팅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이영희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38,000,000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3,166,667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디자인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박수진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7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7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인사팀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정상: 3건    ⚠️ 데이터 누락: 1건 (박수진: 급여 정보 누락)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0" y="4389120"/>
            <a:ext cx="2286000" cy="365760"/>
          </a:xfrm>
          <a:prstGeom prst="rect">
            <a:avLst/>
          </a:prstGeom>
          <a:solidFill>
            <a:srgbClr val="7B2CBF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일괄 발송 (3건)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0" y="4389120"/>
            <a:ext cx="2011680" cy="365760"/>
          </a:xfrm>
          <a:prstGeom prst="rect">
            <a:avLst/>
          </a:prstGeom>
          <a:solidFill>
            <a:srgbClr val="1C1C2E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0" y="4389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2C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미리보기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근로자 - 알림 수신 &amp; 본인인증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3474720" cy="3840480"/>
          </a:xfrm>
          <a:prstGeom prst="rect">
            <a:avLst/>
          </a:prstGeom>
          <a:solidFill>
            <a:srgbClr val="1C1C2E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알림톡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20116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근로계약서 서명 요청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안녕하세요, 홍길동님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(주)OO회사에서 근로계약서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서명을 요청했습니다.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문서: 근로계약서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요청자: 김대표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만료일: 2026.05.13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463040" y="4389120"/>
            <a:ext cx="1828800" cy="3200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6"/>
          <p:cNvSpPr/>
          <p:nvPr/>
        </p:nvSpPr>
        <p:spPr>
          <a:xfrm>
            <a:off x="146304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서명하러 가기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1005840"/>
            <a:ext cx="3840480" cy="3840480"/>
          </a:xfrm>
          <a:prstGeom prst="rect">
            <a:avLst/>
          </a:prstGeom>
          <a:solidFill>
            <a:srgbClr val="1C1C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88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본인인증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120640" y="2011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120640" y="2240280"/>
            <a:ext cx="329184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0" y="26517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생년월일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120640" y="2880360"/>
            <a:ext cx="329184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0" y="32918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 번호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120640" y="3520440"/>
            <a:ext cx="329184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0" y="3931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인증번호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120640" y="4160520"/>
            <a:ext cx="329184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760720" y="4572000"/>
            <a:ext cx="201168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18"/>
          <p:cNvSpPr/>
          <p:nvPr/>
        </p:nvSpPr>
        <p:spPr>
          <a:xfrm>
            <a:off x="5760720" y="4572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근로자 - 계약서 열람 &amp; 서명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005840"/>
            <a:ext cx="7315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05840"/>
            <a:ext cx="731520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[거절]  [서명하기]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6766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 로 계 약 서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근로계약기간: 2026.05.06 ~ 2027.05.05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근무장소: 서울시 강남구 OO빌딩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업무내용: 소프트웨어 개발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근로시간: 09:00 ~ 18:00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임금: 월 3,000,000원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사회보험: 4대보험 가입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0" y="3840480"/>
            <a:ext cx="3657600" cy="502920"/>
          </a:xfrm>
          <a:prstGeom prst="rect">
            <a:avLst/>
          </a:prstGeom>
          <a:solidFill>
            <a:srgbClr val="FFF9C4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서명: [여기를 터치하세요]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하이라이트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근로자 - 서명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005840"/>
            <a:ext cx="6400800" cy="384048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입력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645920"/>
            <a:ext cx="1828800" cy="36576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그리기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645920"/>
            <a:ext cx="1828800" cy="3657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서명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1645920"/>
            <a:ext cx="1828800" cy="3657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도장 업로드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2194560"/>
            <a:ext cx="5486400" cy="1645920"/>
          </a:xfrm>
          <a:prstGeom prst="rect">
            <a:avLst/>
          </a:prstGeom>
          <a:solidFill>
            <a:srgbClr val="1A1A30"/>
          </a:solidFill>
          <a:ln w="12700">
            <a:solidFill>
              <a:srgbClr val="2D2D44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(서명을 그려주세요)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위 내용을 확인하였으며, 전자서명에 동의합니다.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389120"/>
            <a:ext cx="2743200" cy="36576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완료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서명 완료 &amp; 거절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840480"/>
          </a:xfrm>
          <a:prstGeom prst="rect">
            <a:avLst/>
          </a:prstGeom>
          <a:solidFill>
            <a:srgbClr val="1C1C2E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80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서명이 완료되었습니다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문서명: 근로계약서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서명일시: 2026.05.06 14:30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서명자: 홍길동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97280" y="3657600"/>
            <a:ext cx="2560320" cy="3200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문서 다운로드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97280" y="4114800"/>
            <a:ext cx="2560320" cy="320040"/>
          </a:xfrm>
          <a:prstGeom prst="rect">
            <a:avLst/>
          </a:prstGeom>
          <a:solidFill>
            <a:srgbClr val="1C1C2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보관함 이동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1005840"/>
            <a:ext cx="3840480" cy="3840480"/>
          </a:xfrm>
          <a:prstGeom prst="rect">
            <a:avLst/>
          </a:prstGeom>
          <a:solidFill>
            <a:srgbClr val="1C1C2E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801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계약서 거절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0352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계약 조건 불일치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개인 사정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내용 수정 요청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기타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760720" y="4389120"/>
            <a:ext cx="2011680" cy="3200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7" name="Text 13"/>
          <p:cNvSpPr/>
          <p:nvPr/>
        </p:nvSpPr>
        <p:spPr>
          <a:xfrm>
            <a:off x="5760720" y="4389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거절 확인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관리자 - 서명 현황 &amp; 문서 보관함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92024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진행 현황 - 근로계약서_홍길동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홍길동 (근로자) - ⏳ 서명 대기 | 미열람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김대표 (사업주) - ⏸ 대기중 (순차서명)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감사로그: 10:00 생성 → 10:01 발송 → 10:05 수신확인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8229600" cy="182880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보관함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66160"/>
          <a:ext cx="7772400" cy="118872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371600"/>
                <a:gridCol w="137160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완료일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근로계약_김철수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김철수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근로계약_박영수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박영수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근로계약_최미영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최미영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공통 UI &amp; 반응형 설계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286000" cy="3840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U+웍스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대시보드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계약서 작성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진행중 문서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문서 보관함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템플릿 관리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직원 관리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설정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뱃지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서명대기  발송 후 미열람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열람중  열람했으나 미서명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서명완료  모든 서명 완료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거절  서명 거절됨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⚫ 만료  기한 초과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설계</a:t>
            </a:r>
            <a:endParaRPr lang="en-US" sz="1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2560320" cy="100584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해상도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Desktop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1280px+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768~1279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~767px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3017520" y="3474720"/>
            <a:ext cx="5669280" cy="1280160"/>
          </a:xfrm>
          <a:prstGeom prst="rect">
            <a:avLst/>
          </a:prstGeom>
          <a:solidFill>
            <a:srgbClr val="1C1C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0" y="35661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우선 설계 원칙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근로자 서명 화면 모바일 최적화 필수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터치 영역 최소 44x44px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서명 캔버스 가로 전체 너비 활용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모두싸인 벤치마킹 요약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모두싸인 기능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U+웍스 적용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드래그&amp;드롭 서명 위치 지정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서명자별 색상 구분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3가지 서명 방식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실시간 문서 미리보기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카카오/SMS/이메일 발송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순차/동시 서명 설정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감사 로그 (Audit Trail)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 보관함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템플릿 관리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대량 발송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🔜 2차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연동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🔜 2차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E6007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97280"/>
          <a:ext cx="64008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+ TypeScript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Framework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 Design / MUI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 캔버스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signature_pad.js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 렌더링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PDF.js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상태관리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Zustand / Redux Toolkit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 API + WebSocket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 2.0 + SMS OTP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근로자 서명은 모바일 웹 기반 (앱 설치 불필요)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E6007E">
              <a:alpha val="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474720" y="3108960"/>
            <a:ext cx="219456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U+웍스 근로계약 전자서명 화면설계서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2026.05.06  |  v1.0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U+웍스 근로계약 전자서명 화면설계서</dc:title>
  <dc:subject>PptxGenJS Presentation</dc:subject>
  <dc:creator>U+웍스</dc:creator>
  <cp:lastModifiedBy>U+웍스</cp:lastModifiedBy>
  <cp:revision>1</cp:revision>
  <dcterms:created xsi:type="dcterms:W3CDTF">2026-05-06T05:13:22Z</dcterms:created>
  <dcterms:modified xsi:type="dcterms:W3CDTF">2026-05-06T05:13:22Z</dcterms:modified>
</cp:coreProperties>
</file>