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914400" y="-914400"/>
            <a:ext cx="3657600" cy="3657600"/>
          </a:xfrm>
          <a:prstGeom prst="ellipse">
            <a:avLst/>
          </a:prstGeom>
          <a:solidFill>
            <a:srgbClr val="E6007E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3200400"/>
            <a:ext cx="3657600" cy="3657600"/>
          </a:xfrm>
          <a:prstGeom prst="ellipse">
            <a:avLst/>
          </a:prstGeom>
          <a:solidFill>
            <a:srgbClr val="00B4D8">
              <a:alpha val="15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548640"/>
            <a:ext cx="914400" cy="9144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6459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spc="60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U+웍스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457200" y="21945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근로계약 전자서명 화면설계서</a:t>
            </a:r>
            <a:endParaRPr lang="en-US" sz="3200" dirty="0"/>
          </a:p>
        </p:txBody>
      </p:sp>
      <p:sp>
        <p:nvSpPr>
          <p:cNvPr id="7" name="Shape 4"/>
          <p:cNvSpPr/>
          <p:nvPr/>
        </p:nvSpPr>
        <p:spPr>
          <a:xfrm>
            <a:off x="3474720" y="3108960"/>
            <a:ext cx="2194560" cy="36576"/>
          </a:xfrm>
          <a:prstGeom prst="rect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벤치마킹: 모두싸인(Modusign)  |  v1.0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57200" y="44805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2026.05.06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7432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spc="400" kern="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목차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00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005840" y="13716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서비스 개요 및 화면 흐름도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71907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00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02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05840" y="171907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- 대시보드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06654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00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03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005840" y="2066544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- 계약서 작성 (4단계)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241401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00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04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05840" y="241401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근로자 - 알림 수신 &amp; 본인인증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276148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00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05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005840" y="276148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근로자 - 계약서 열람 &amp; 서명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3108960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00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06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31089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근로자 - 서명 완료 &amp; 거절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3456432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00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07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05840" y="3456432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- 서명 현황 &amp; 문서 보관함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57200" y="3803904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00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08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05840" y="3803904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공통 UI &amp; 반응형 설계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151376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00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09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05840" y="4151376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모두싸인 벤치마킹 요약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498848"/>
            <a:ext cx="457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600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010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05840" y="4498848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기술 스택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132320" y="1371600"/>
            <a:ext cx="2743200" cy="2743200"/>
          </a:xfrm>
          <a:prstGeom prst="ellipse">
            <a:avLst/>
          </a:prstGeom>
          <a:solidFill>
            <a:srgbClr val="00B4D8">
              <a:alpha val="10000"/>
            </a:srgbClr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서비스 개요 및 화면 흐름도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E6007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8229600" cy="1645920"/>
          </a:xfrm>
          <a:prstGeom prst="rect">
            <a:avLst/>
          </a:prstGeom>
          <a:solidFill>
            <a:srgbClr val="1C1C2E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005840" y="11887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관리자 Flow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731520" y="16916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대시보드 → ② 계약서 작성 → ③ 서명자 지정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④ 서명 위치 설정 → ⑤ 발송 → ⑥ 현황 관리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57200" y="3017520"/>
            <a:ext cx="8229600" cy="1645920"/>
          </a:xfrm>
          <a:prstGeom prst="rect">
            <a:avLst/>
          </a:prstGeom>
          <a:solidFill>
            <a:srgbClr val="1C1C2E"/>
          </a:solidFill>
          <a:ln w="19050">
            <a:solidFill>
              <a:srgbClr val="E6007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15468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05840" y="31089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근로자 Flow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731520" y="361188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알림(카카오/SMS) → ② 본인인증 → ③ 계약서 열람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④ 서명 입력 → ⑤ 서명 완료 → ⑥ 완료 문서 보관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관리자 대시보드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E6007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97280"/>
            <a:ext cx="1920240" cy="1188720"/>
          </a:xfrm>
          <a:prstGeom prst="rect">
            <a:avLst/>
          </a:prstGeom>
          <a:solidFill>
            <a:srgbClr val="1C1C2E"/>
          </a:solidFill>
          <a:ln w="25400">
            <a:solidFill>
              <a:srgbClr val="FFD16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234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D166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12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457200" y="1874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진행중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06040" y="1097280"/>
            <a:ext cx="1920240" cy="1188720"/>
          </a:xfrm>
          <a:prstGeom prst="rect">
            <a:avLst/>
          </a:prstGeom>
          <a:solidFill>
            <a:srgbClr val="1C1C2E"/>
          </a:solidFill>
          <a:ln w="25400">
            <a:solidFill>
              <a:srgbClr val="06D6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606040" y="1234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6D6A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45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2606040" y="1874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097280"/>
            <a:ext cx="1920240" cy="1188720"/>
          </a:xfrm>
          <a:prstGeom prst="rect">
            <a:avLst/>
          </a:prstGeom>
          <a:solidFill>
            <a:srgbClr val="1C1C2E"/>
          </a:solidFill>
          <a:ln w="25400">
            <a:solidFill>
              <a:srgbClr val="EF476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754880" y="1234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F476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754880" y="1874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거절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903720" y="1097280"/>
            <a:ext cx="1920240" cy="1188720"/>
          </a:xfrm>
          <a:prstGeom prst="rect">
            <a:avLst/>
          </a:prstGeom>
          <a:solidFill>
            <a:srgbClr val="1C1C2E"/>
          </a:solidFill>
          <a:ln w="25400">
            <a:solidFill>
              <a:srgbClr val="8D99A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903720" y="123444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8D99A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6903720" y="187452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만료</a:t>
            </a:r>
            <a:endParaRPr lang="en-US" sz="11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60320"/>
          <a:ext cx="8229600" cy="201168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  <a:gridCol w="1828800"/>
                <a:gridCol w="13716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문서명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서명자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상태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발송일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근로계약서_홍길동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홍길동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D1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🟡 서명대기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05-06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근로계약서_김철수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김철수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🟢 서명완료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05-05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근로계약서_이영희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이영희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🔵 열람중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8D99A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05-04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계약서 작성 Step 1: 템플릿 선택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E6007E"/>
          </a:solidFill>
          <a:ln/>
        </p:spPr>
      </p:sp>
      <p:sp>
        <p:nvSpPr>
          <p:cNvPr id="4" name="Shape 2"/>
          <p:cNvSpPr/>
          <p:nvPr/>
        </p:nvSpPr>
        <p:spPr>
          <a:xfrm>
            <a:off x="2057400" y="1005840"/>
            <a:ext cx="320040" cy="320040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5" name="Text 3"/>
          <p:cNvSpPr/>
          <p:nvPr/>
        </p:nvSpPr>
        <p:spPr>
          <a:xfrm>
            <a:off x="2057400" y="1005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828800" y="137160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템플릿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377440" y="1170432"/>
            <a:ext cx="1097280" cy="0"/>
          </a:xfrm>
          <a:prstGeom prst="line">
            <a:avLst/>
          </a:prstGeom>
          <a:noFill/>
          <a:ln w="19050">
            <a:solidFill>
              <a:srgbClr val="2D2D44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03320" y="1005840"/>
            <a:ext cx="320040" cy="320040"/>
          </a:xfrm>
          <a:prstGeom prst="ellipse">
            <a:avLst/>
          </a:prstGeom>
          <a:solidFill>
            <a:srgbClr val="2D2D44"/>
          </a:solidFill>
          <a:ln/>
        </p:spPr>
      </p:sp>
      <p:sp>
        <p:nvSpPr>
          <p:cNvPr id="9" name="Text 7"/>
          <p:cNvSpPr/>
          <p:nvPr/>
        </p:nvSpPr>
        <p:spPr>
          <a:xfrm>
            <a:off x="3703320" y="1005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474720" y="137160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내용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023360" y="1170432"/>
            <a:ext cx="1097280" cy="0"/>
          </a:xfrm>
          <a:prstGeom prst="line">
            <a:avLst/>
          </a:prstGeom>
          <a:noFill/>
          <a:ln w="19050">
            <a:solidFill>
              <a:srgbClr val="2D2D4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49240" y="1005840"/>
            <a:ext cx="320040" cy="320040"/>
          </a:xfrm>
          <a:prstGeom prst="ellipse">
            <a:avLst/>
          </a:prstGeom>
          <a:solidFill>
            <a:srgbClr val="2D2D44"/>
          </a:solidFill>
          <a:ln/>
        </p:spPr>
      </p:sp>
      <p:sp>
        <p:nvSpPr>
          <p:cNvPr id="13" name="Text 11"/>
          <p:cNvSpPr/>
          <p:nvPr/>
        </p:nvSpPr>
        <p:spPr>
          <a:xfrm>
            <a:off x="5349240" y="1005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120640" y="137160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서명자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669280" y="1170432"/>
            <a:ext cx="1097280" cy="0"/>
          </a:xfrm>
          <a:prstGeom prst="line">
            <a:avLst/>
          </a:prstGeom>
          <a:noFill/>
          <a:ln w="19050">
            <a:solidFill>
              <a:srgbClr val="2D2D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95160" y="1005840"/>
            <a:ext cx="320040" cy="320040"/>
          </a:xfrm>
          <a:prstGeom prst="ellipse">
            <a:avLst/>
          </a:prstGeom>
          <a:solidFill>
            <a:srgbClr val="2D2D44"/>
          </a:solidFill>
          <a:ln/>
        </p:spPr>
      </p:sp>
      <p:sp>
        <p:nvSpPr>
          <p:cNvPr id="17" name="Text 15"/>
          <p:cNvSpPr/>
          <p:nvPr/>
        </p:nvSpPr>
        <p:spPr>
          <a:xfrm>
            <a:off x="6995160" y="1005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766560" y="1371600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발송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640080" y="1828800"/>
            <a:ext cx="1828800" cy="2560320"/>
          </a:xfrm>
          <a:prstGeom prst="rect">
            <a:avLst/>
          </a:prstGeom>
          <a:solidFill>
            <a:srgbClr val="1C1C2E"/>
          </a:solidFill>
          <a:ln w="12700">
            <a:solidFill>
              <a:srgbClr val="2D2D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20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80160" y="2103120"/>
            <a:ext cx="457200" cy="45720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640080" y="27432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표준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근로계약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960120" y="3749040"/>
            <a:ext cx="1188720" cy="320040"/>
          </a:xfrm>
          <a:prstGeom prst="rect">
            <a:avLst/>
          </a:prstGeom>
          <a:solidFill>
            <a:srgbClr val="E6007E"/>
          </a:solidFill>
          <a:ln/>
        </p:spPr>
      </p:sp>
      <p:sp>
        <p:nvSpPr>
          <p:cNvPr id="23" name="Text 20"/>
          <p:cNvSpPr/>
          <p:nvPr/>
        </p:nvSpPr>
        <p:spPr>
          <a:xfrm>
            <a:off x="960120" y="37490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</a:t>
            </a:r>
            <a:endParaRPr lang="en-US" sz="1000" dirty="0"/>
          </a:p>
        </p:txBody>
      </p:sp>
      <p:sp>
        <p:nvSpPr>
          <p:cNvPr id="24" name="Shape 21"/>
          <p:cNvSpPr/>
          <p:nvPr/>
        </p:nvSpPr>
        <p:spPr>
          <a:xfrm>
            <a:off x="2743200" y="1828800"/>
            <a:ext cx="1828800" cy="2560320"/>
          </a:xfrm>
          <a:prstGeom prst="rect">
            <a:avLst/>
          </a:prstGeom>
          <a:solidFill>
            <a:srgbClr val="1C1C2E"/>
          </a:solidFill>
          <a:ln w="12700">
            <a:solidFill>
              <a:srgbClr val="2D2D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25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280" y="2103120"/>
            <a:ext cx="457200" cy="4572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2743200" y="27432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단시간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근로계약</a:t>
            </a:r>
            <a:endParaRPr lang="en-US" sz="1100" dirty="0"/>
          </a:p>
        </p:txBody>
      </p:sp>
      <p:sp>
        <p:nvSpPr>
          <p:cNvPr id="27" name="Shape 23"/>
          <p:cNvSpPr/>
          <p:nvPr/>
        </p:nvSpPr>
        <p:spPr>
          <a:xfrm>
            <a:off x="3063240" y="3749040"/>
            <a:ext cx="1188720" cy="320040"/>
          </a:xfrm>
          <a:prstGeom prst="rect">
            <a:avLst/>
          </a:prstGeom>
          <a:solidFill>
            <a:srgbClr val="E6007E"/>
          </a:solidFill>
          <a:ln/>
        </p:spPr>
      </p:sp>
      <p:sp>
        <p:nvSpPr>
          <p:cNvPr id="28" name="Text 24"/>
          <p:cNvSpPr/>
          <p:nvPr/>
        </p:nvSpPr>
        <p:spPr>
          <a:xfrm>
            <a:off x="3063240" y="37490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</a:t>
            </a:r>
            <a:endParaRPr lang="en-US" sz="1000" dirty="0"/>
          </a:p>
        </p:txBody>
      </p:sp>
      <p:sp>
        <p:nvSpPr>
          <p:cNvPr id="29" name="Shape 25"/>
          <p:cNvSpPr/>
          <p:nvPr/>
        </p:nvSpPr>
        <p:spPr>
          <a:xfrm>
            <a:off x="4846320" y="1828800"/>
            <a:ext cx="1828800" cy="2560320"/>
          </a:xfrm>
          <a:prstGeom prst="rect">
            <a:avLst/>
          </a:prstGeom>
          <a:solidFill>
            <a:srgbClr val="1C1C2E"/>
          </a:solidFill>
          <a:ln w="12700">
            <a:solidFill>
              <a:srgbClr val="2D2D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30" name="Image 2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2103120"/>
            <a:ext cx="457200" cy="457200"/>
          </a:xfrm>
          <a:prstGeom prst="rect">
            <a:avLst/>
          </a:prstGeom>
        </p:spPr>
      </p:pic>
      <p:sp>
        <p:nvSpPr>
          <p:cNvPr id="31" name="Text 26"/>
          <p:cNvSpPr/>
          <p:nvPr/>
        </p:nvSpPr>
        <p:spPr>
          <a:xfrm>
            <a:off x="4846320" y="27432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일용직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근로계약</a:t>
            </a:r>
            <a:endParaRPr lang="en-US" sz="1100" dirty="0"/>
          </a:p>
        </p:txBody>
      </p:sp>
      <p:sp>
        <p:nvSpPr>
          <p:cNvPr id="32" name="Shape 27"/>
          <p:cNvSpPr/>
          <p:nvPr/>
        </p:nvSpPr>
        <p:spPr>
          <a:xfrm>
            <a:off x="5166360" y="3749040"/>
            <a:ext cx="1188720" cy="320040"/>
          </a:xfrm>
          <a:prstGeom prst="rect">
            <a:avLst/>
          </a:prstGeom>
          <a:solidFill>
            <a:srgbClr val="E6007E"/>
          </a:solidFill>
          <a:ln/>
        </p:spPr>
      </p:sp>
      <p:sp>
        <p:nvSpPr>
          <p:cNvPr id="33" name="Text 28"/>
          <p:cNvSpPr/>
          <p:nvPr/>
        </p:nvSpPr>
        <p:spPr>
          <a:xfrm>
            <a:off x="5166360" y="37490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</a:t>
            </a:r>
            <a:endParaRPr lang="en-US" sz="1000" dirty="0"/>
          </a:p>
        </p:txBody>
      </p:sp>
      <p:sp>
        <p:nvSpPr>
          <p:cNvPr id="34" name="Shape 29"/>
          <p:cNvSpPr/>
          <p:nvPr/>
        </p:nvSpPr>
        <p:spPr>
          <a:xfrm>
            <a:off x="6949440" y="1828800"/>
            <a:ext cx="1828800" cy="2560320"/>
          </a:xfrm>
          <a:prstGeom prst="rect">
            <a:avLst/>
          </a:prstGeom>
          <a:solidFill>
            <a:srgbClr val="1C1C2E"/>
          </a:solidFill>
          <a:ln w="12700">
            <a:solidFill>
              <a:srgbClr val="2D2D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89520" y="2103120"/>
            <a:ext cx="457200" cy="457200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949440" y="274320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수습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근로계약</a:t>
            </a:r>
            <a:endParaRPr lang="en-US" sz="1100" dirty="0"/>
          </a:p>
        </p:txBody>
      </p:sp>
      <p:sp>
        <p:nvSpPr>
          <p:cNvPr id="37" name="Shape 31"/>
          <p:cNvSpPr/>
          <p:nvPr/>
        </p:nvSpPr>
        <p:spPr>
          <a:xfrm>
            <a:off x="7269480" y="3749040"/>
            <a:ext cx="1188720" cy="320040"/>
          </a:xfrm>
          <a:prstGeom prst="rect">
            <a:avLst/>
          </a:prstGeom>
          <a:solidFill>
            <a:srgbClr val="E6007E"/>
          </a:solidFill>
          <a:ln/>
        </p:spPr>
      </p:sp>
      <p:sp>
        <p:nvSpPr>
          <p:cNvPr id="38" name="Text 32"/>
          <p:cNvSpPr/>
          <p:nvPr/>
        </p:nvSpPr>
        <p:spPr>
          <a:xfrm>
            <a:off x="7269480" y="3749040"/>
            <a:ext cx="1188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선택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계약서 작성 Step 2: 내용 입력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E6007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3840480" cy="3840480"/>
          </a:xfrm>
          <a:prstGeom prst="rect">
            <a:avLst/>
          </a:prstGeom>
          <a:solidFill>
            <a:srgbClr val="1C1C2E"/>
          </a:solidFill>
          <a:ln w="12700">
            <a:solidFill>
              <a:srgbClr val="2D2D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입력 필드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근로자명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31520" y="1783080"/>
            <a:ext cx="3200400" cy="256032"/>
          </a:xfrm>
          <a:prstGeom prst="rect">
            <a:avLst/>
          </a:prstGeom>
          <a:solidFill>
            <a:srgbClr val="252540"/>
          </a:solidFill>
          <a:ln w="6350">
            <a:solidFill>
              <a:srgbClr val="2D2D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10312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계약기간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2331720"/>
            <a:ext cx="3200400" cy="256032"/>
          </a:xfrm>
          <a:prstGeom prst="rect">
            <a:avLst/>
          </a:prstGeom>
          <a:solidFill>
            <a:srgbClr val="252540"/>
          </a:solidFill>
          <a:ln w="6350">
            <a:solidFill>
              <a:srgbClr val="2D2D4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65176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근무장소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2880360"/>
            <a:ext cx="3200400" cy="256032"/>
          </a:xfrm>
          <a:prstGeom prst="rect">
            <a:avLst/>
          </a:prstGeom>
          <a:solidFill>
            <a:srgbClr val="252540"/>
          </a:solidFill>
          <a:ln w="6350">
            <a:solidFill>
              <a:srgbClr val="2D2D4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31520" y="32004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업무내용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429000"/>
            <a:ext cx="3200400" cy="256032"/>
          </a:xfrm>
          <a:prstGeom prst="rect">
            <a:avLst/>
          </a:prstGeom>
          <a:solidFill>
            <a:srgbClr val="252540"/>
          </a:solidFill>
          <a:ln w="6350">
            <a:solidFill>
              <a:srgbClr val="2D2D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31520" y="374904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근무시간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977640"/>
            <a:ext cx="3200400" cy="256032"/>
          </a:xfrm>
          <a:prstGeom prst="rect">
            <a:avLst/>
          </a:prstGeom>
          <a:solidFill>
            <a:srgbClr val="252540"/>
          </a:solidFill>
          <a:ln w="6350">
            <a:solidFill>
              <a:srgbClr val="2D2D44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31520" y="429768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급여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" y="4526280"/>
            <a:ext cx="3200400" cy="256032"/>
          </a:xfrm>
          <a:prstGeom prst="rect">
            <a:avLst/>
          </a:prstGeom>
          <a:solidFill>
            <a:srgbClr val="252540"/>
          </a:solidFill>
          <a:ln w="6350">
            <a:solidFill>
              <a:srgbClr val="2D2D4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0" y="1005840"/>
            <a:ext cx="41148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754880" y="10972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실시간 미리보기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937760" y="1554480"/>
            <a:ext cx="3657600" cy="3017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 로 계 약 서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근로자: 홍길동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기간: 2026.05 ~ 2027.04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장소: 본사 3층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업무: 소프트웨어 개발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시간: 09:00 ~ 18:00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급여: 3,000,000원/월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계약서 작성 Step 3: 서명자 지정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E6007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3931920" cy="2926080"/>
          </a:xfrm>
          <a:prstGeom prst="rect">
            <a:avLst/>
          </a:prstGeom>
          <a:solidFill>
            <a:srgbClr val="1C1C2E"/>
          </a:solidFill>
          <a:ln w="25400">
            <a:solidFill>
              <a:srgbClr val="EF476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F4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서명자 1 (근로자)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554480"/>
            <a:ext cx="3474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이름: 홍길동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연락처: 010-1234-5678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이메일: hong@email.com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인증: ●카카오톡 ○SMS ○이메일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005840"/>
            <a:ext cx="3931920" cy="2926080"/>
          </a:xfrm>
          <a:prstGeom prst="rect">
            <a:avLst/>
          </a:prstGeom>
          <a:solidFill>
            <a:srgbClr val="1C1C2E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937760" y="109728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서명자 2 (사업주)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029200" y="1554480"/>
            <a:ext cx="347472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이름: 김대표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연락처: 010-9876-5432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이메일: ceo@company.com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인증: ○카카오톡 ●SMS ○이메일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4206240"/>
            <a:ext cx="8229600" cy="640080"/>
          </a:xfrm>
          <a:prstGeom prst="rect">
            <a:avLst/>
          </a:prstGeom>
          <a:solidFill>
            <a:srgbClr val="1C1C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42976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서명 순서:  ● 순차 서명    ○ 동시 서명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계약서 작성 Step 4: 서명 위치 설정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E6007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2011680" cy="3840480"/>
          </a:xfrm>
          <a:prstGeom prst="rect">
            <a:avLst/>
          </a:prstGeom>
          <a:solidFill>
            <a:srgbClr val="1C1C2E"/>
          </a:solidFill>
          <a:ln w="12700">
            <a:solidFill>
              <a:srgbClr val="2D2D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필드 도구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1554480" cy="347472"/>
          </a:xfrm>
          <a:prstGeom prst="rect">
            <a:avLst/>
          </a:prstGeom>
          <a:solidFill>
            <a:srgbClr val="252540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630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서명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" y="1920240"/>
            <a:ext cx="1554480" cy="347472"/>
          </a:xfrm>
          <a:prstGeom prst="rect">
            <a:avLst/>
          </a:prstGeom>
          <a:solidFill>
            <a:srgbClr val="252540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9202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날짜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40080" y="2377440"/>
            <a:ext cx="1554480" cy="347472"/>
          </a:xfrm>
          <a:prstGeom prst="rect">
            <a:avLst/>
          </a:prstGeom>
          <a:solidFill>
            <a:srgbClr val="252540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3774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40080" y="2834640"/>
            <a:ext cx="1554480" cy="347472"/>
          </a:xfrm>
          <a:prstGeom prst="rect">
            <a:avLst/>
          </a:prstGeom>
          <a:solidFill>
            <a:srgbClr val="252540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0080" y="28346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체크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40080" y="3291840"/>
            <a:ext cx="1554480" cy="347472"/>
          </a:xfrm>
          <a:prstGeom prst="rect">
            <a:avLst/>
          </a:prstGeom>
          <a:solidFill>
            <a:srgbClr val="252540"/>
          </a:solidFill>
          <a:ln w="12700">
            <a:solidFill>
              <a:srgbClr val="E6007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0080" y="3291840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도장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48640" y="384048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색상 구분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640080" y="4160520"/>
            <a:ext cx="182880" cy="182880"/>
          </a:xfrm>
          <a:prstGeom prst="ellipse">
            <a:avLst/>
          </a:prstGeom>
          <a:solidFill>
            <a:srgbClr val="EF476F"/>
          </a:solidFill>
          <a:ln/>
        </p:spPr>
      </p:sp>
      <p:sp>
        <p:nvSpPr>
          <p:cNvPr id="18" name="Text 16"/>
          <p:cNvSpPr/>
          <p:nvPr/>
        </p:nvSpPr>
        <p:spPr>
          <a:xfrm>
            <a:off x="868680" y="414223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근로자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1645920" y="4160520"/>
            <a:ext cx="182880" cy="1828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0" name="Text 18"/>
          <p:cNvSpPr/>
          <p:nvPr/>
        </p:nvSpPr>
        <p:spPr>
          <a:xfrm>
            <a:off x="1874520" y="4142232"/>
            <a:ext cx="731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사업주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2743200" y="1005840"/>
            <a:ext cx="59436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2926080" y="1188720"/>
            <a:ext cx="5577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 로 계 약 서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3108960" y="1828800"/>
            <a:ext cx="5303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...계약 내용...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2926080"/>
            <a:ext cx="2286000" cy="502920"/>
          </a:xfrm>
          <a:prstGeom prst="rect">
            <a:avLst/>
          </a:prstGeom>
          <a:solidFill>
            <a:srgbClr val="FFF0F0"/>
          </a:solidFill>
          <a:ln w="19050">
            <a:solidFill>
              <a:srgbClr val="EF476F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3200400" y="292608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F4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근로자 서명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200400" y="3749040"/>
            <a:ext cx="2286000" cy="502920"/>
          </a:xfrm>
          <a:prstGeom prst="rect">
            <a:avLst/>
          </a:prstGeom>
          <a:solidFill>
            <a:srgbClr val="F0F8FF"/>
          </a:solidFill>
          <a:ln w="19050">
            <a:solidFill>
              <a:srgbClr val="00B4D8"/>
            </a:solidFill>
            <a:prstDash val="dash"/>
          </a:ln>
        </p:spPr>
      </p:sp>
      <p:sp>
        <p:nvSpPr>
          <p:cNvPr id="27" name="Text 25"/>
          <p:cNvSpPr/>
          <p:nvPr/>
        </p:nvSpPr>
        <p:spPr>
          <a:xfrm>
            <a:off x="3200400" y="3749040"/>
            <a:ext cx="2286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사업주 서명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760720" y="320040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드래그&amp;드롭 배치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근로자 - 알림 수신 &amp; 본인인증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E6007E"/>
          </a:solidFill>
          <a:ln/>
        </p:spPr>
      </p:sp>
      <p:sp>
        <p:nvSpPr>
          <p:cNvPr id="4" name="Shape 2"/>
          <p:cNvSpPr/>
          <p:nvPr/>
        </p:nvSpPr>
        <p:spPr>
          <a:xfrm>
            <a:off x="731520" y="1005840"/>
            <a:ext cx="3474720" cy="3840480"/>
          </a:xfrm>
          <a:prstGeom prst="rect">
            <a:avLst/>
          </a:prstGeom>
          <a:solidFill>
            <a:srgbClr val="1C1C2E"/>
          </a:solidFill>
          <a:ln w="19050">
            <a:solidFill>
              <a:srgbClr val="FFD166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94560" y="118872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731520" y="16002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카카오 알림톡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1005840" y="2011680"/>
            <a:ext cx="292608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근로계약서 서명 요청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안녕하세요, 홍길동님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(주)OO회사에서 근로계약서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서명을 요청했습니다.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문서: 근로계약서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요청자: 김대표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만료일: 2026.05.13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1463040" y="4389120"/>
            <a:ext cx="1828800" cy="320040"/>
          </a:xfrm>
          <a:prstGeom prst="rect">
            <a:avLst/>
          </a:prstGeom>
          <a:solidFill>
            <a:srgbClr val="FFD166"/>
          </a:solidFill>
          <a:ln/>
        </p:spPr>
      </p:sp>
      <p:sp>
        <p:nvSpPr>
          <p:cNvPr id="9" name="Text 6"/>
          <p:cNvSpPr/>
          <p:nvPr/>
        </p:nvSpPr>
        <p:spPr>
          <a:xfrm>
            <a:off x="1463040" y="43891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서명하러 가기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4846320" y="1005840"/>
            <a:ext cx="3840480" cy="3840480"/>
          </a:xfrm>
          <a:prstGeom prst="rect">
            <a:avLst/>
          </a:prstGeom>
          <a:solidFill>
            <a:srgbClr val="1C1C2E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18872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846320" y="16002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본인인증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120640" y="201168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이름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5120640" y="2240280"/>
            <a:ext cx="3291840" cy="274320"/>
          </a:xfrm>
          <a:prstGeom prst="rect">
            <a:avLst/>
          </a:prstGeom>
          <a:solidFill>
            <a:srgbClr val="252540"/>
          </a:solidFill>
          <a:ln w="6350">
            <a:solidFill>
              <a:srgbClr val="2D2D44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5120640" y="265176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생년월일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5120640" y="2880360"/>
            <a:ext cx="3291840" cy="274320"/>
          </a:xfrm>
          <a:prstGeom prst="rect">
            <a:avLst/>
          </a:prstGeom>
          <a:solidFill>
            <a:srgbClr val="252540"/>
          </a:solidFill>
          <a:ln w="6350">
            <a:solidFill>
              <a:srgbClr val="2D2D4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5120640" y="329184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휴대폰 번호</a:t>
            </a:r>
            <a:endParaRPr lang="en-US" sz="900" dirty="0"/>
          </a:p>
        </p:txBody>
      </p:sp>
      <p:sp>
        <p:nvSpPr>
          <p:cNvPr id="18" name="Shape 14"/>
          <p:cNvSpPr/>
          <p:nvPr/>
        </p:nvSpPr>
        <p:spPr>
          <a:xfrm>
            <a:off x="5120640" y="3520440"/>
            <a:ext cx="3291840" cy="274320"/>
          </a:xfrm>
          <a:prstGeom prst="rect">
            <a:avLst/>
          </a:prstGeom>
          <a:solidFill>
            <a:srgbClr val="252540"/>
          </a:solidFill>
          <a:ln w="6350">
            <a:solidFill>
              <a:srgbClr val="2D2D44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120640" y="3931920"/>
            <a:ext cx="3291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인증번호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5120640" y="4160520"/>
            <a:ext cx="3291840" cy="274320"/>
          </a:xfrm>
          <a:prstGeom prst="rect">
            <a:avLst/>
          </a:prstGeom>
          <a:solidFill>
            <a:srgbClr val="252540"/>
          </a:solidFill>
          <a:ln w="6350">
            <a:solidFill>
              <a:srgbClr val="2D2D44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5760720" y="4572000"/>
            <a:ext cx="2011680" cy="32004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22" name="Text 18"/>
          <p:cNvSpPr/>
          <p:nvPr/>
        </p:nvSpPr>
        <p:spPr>
          <a:xfrm>
            <a:off x="5760720" y="45720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확인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근로자 - 계약서 열람 &amp; 서명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E6007E"/>
          </a:solidFill>
          <a:ln/>
        </p:spPr>
      </p:sp>
      <p:sp>
        <p:nvSpPr>
          <p:cNvPr id="4" name="Shape 2"/>
          <p:cNvSpPr/>
          <p:nvPr/>
        </p:nvSpPr>
        <p:spPr>
          <a:xfrm>
            <a:off x="914400" y="1005840"/>
            <a:ext cx="7315200" cy="3840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1005840"/>
            <a:ext cx="7315200" cy="411480"/>
          </a:xfrm>
          <a:prstGeom prst="rect">
            <a:avLst/>
          </a:prstGeom>
          <a:solidFill>
            <a:srgbClr val="1A1A2E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05156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근로계약서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105156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[거절]  [서명하기]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188720" y="1554480"/>
            <a:ext cx="6766560" cy="2103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 로 계 약 서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근로계약기간: 2026.05.06 ~ 2027.05.05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근무장소: 서울시 강남구 OO빌딩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업무내용: 소프트웨어 개발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근로시간: 09:00 ~ 18:00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임금: 월 3,000,000원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사회보험: 4대보험 가입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188720" y="3840480"/>
            <a:ext cx="3657600" cy="502920"/>
          </a:xfrm>
          <a:prstGeom prst="rect">
            <a:avLst/>
          </a:prstGeom>
          <a:solidFill>
            <a:srgbClr val="FFF9C4"/>
          </a:solidFill>
          <a:ln w="19050">
            <a:solidFill>
              <a:srgbClr val="FFD16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88720" y="384048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B2D4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근로자 서명: [여기를 터치하세요]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0" y="393192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FFD1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 하이라이트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근로자 - 서명 입력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E6007E"/>
          </a:solidFill>
          <a:ln/>
        </p:spPr>
      </p:sp>
      <p:sp>
        <p:nvSpPr>
          <p:cNvPr id="4" name="Shape 2"/>
          <p:cNvSpPr/>
          <p:nvPr/>
        </p:nvSpPr>
        <p:spPr>
          <a:xfrm>
            <a:off x="1371600" y="1005840"/>
            <a:ext cx="6400800" cy="3840480"/>
          </a:xfrm>
          <a:prstGeom prst="rect">
            <a:avLst/>
          </a:prstGeom>
          <a:solidFill>
            <a:srgbClr val="1C1C2E"/>
          </a:solidFill>
          <a:ln w="12700">
            <a:solidFill>
              <a:srgbClr val="2D2D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371600" y="1097280"/>
            <a:ext cx="6400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서명 입력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828800" y="1645920"/>
            <a:ext cx="1828800" cy="365760"/>
          </a:xfrm>
          <a:prstGeom prst="rect">
            <a:avLst/>
          </a:prstGeom>
          <a:solidFill>
            <a:srgbClr val="E6007E"/>
          </a:solidFill>
          <a:ln/>
        </p:spPr>
      </p:sp>
      <p:sp>
        <p:nvSpPr>
          <p:cNvPr id="7" name="Text 5"/>
          <p:cNvSpPr/>
          <p:nvPr/>
        </p:nvSpPr>
        <p:spPr>
          <a:xfrm>
            <a:off x="1828800" y="1645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 그리기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40480" y="1645920"/>
            <a:ext cx="1828800" cy="36576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9" name="Text 7"/>
          <p:cNvSpPr/>
          <p:nvPr/>
        </p:nvSpPr>
        <p:spPr>
          <a:xfrm>
            <a:off x="3840480" y="1645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텍스트 서명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852160" y="1645920"/>
            <a:ext cx="1828800" cy="365760"/>
          </a:xfrm>
          <a:prstGeom prst="rect">
            <a:avLst/>
          </a:prstGeom>
          <a:solidFill>
            <a:srgbClr val="252540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0" y="16459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도장 업로드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1828800" y="2194560"/>
            <a:ext cx="5486400" cy="1645920"/>
          </a:xfrm>
          <a:prstGeom prst="rect">
            <a:avLst/>
          </a:prstGeom>
          <a:solidFill>
            <a:srgbClr val="1A1A30"/>
          </a:solidFill>
          <a:ln w="12700">
            <a:solidFill>
              <a:srgbClr val="2D2D44"/>
            </a:solidFill>
            <a:prstDash val="dash"/>
          </a:ln>
        </p:spPr>
      </p:sp>
      <p:sp>
        <p:nvSpPr>
          <p:cNvPr id="13" name="Text 11"/>
          <p:cNvSpPr/>
          <p:nvPr/>
        </p:nvSpPr>
        <p:spPr>
          <a:xfrm>
            <a:off x="1828800" y="274320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(서명을 그려주세요)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40233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☑ 위 내용을 확인하였으며, 전자서명에 동의합니다.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0" y="4389120"/>
            <a:ext cx="2743200" cy="365760"/>
          </a:xfrm>
          <a:prstGeom prst="rect">
            <a:avLst/>
          </a:prstGeom>
          <a:solidFill>
            <a:srgbClr val="E6007E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0" y="43891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서명 완료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서명 완료 &amp; 거절 화면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E6007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3840480" cy="3840480"/>
          </a:xfrm>
          <a:prstGeom prst="rect">
            <a:avLst/>
          </a:prstGeom>
          <a:solidFill>
            <a:srgbClr val="1C1C2E"/>
          </a:solidFill>
          <a:ln w="25400">
            <a:solidFill>
              <a:srgbClr val="06D6A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03120" y="1280160"/>
            <a:ext cx="548640" cy="5486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457200" y="192024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서명이 완료되었습니다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914400" y="2377440"/>
            <a:ext cx="29260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문서명: 근로계약서</a:t>
            </a:r>
            <a:endParaRPr lang="en-US" sz="1100" dirty="0"/>
          </a:p>
          <a:p>
            <a:pPr algn="ctr"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서명일시: 2026.05.06 14:30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서명자: 홍길동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1097280" y="3657600"/>
            <a:ext cx="2560320" cy="320040"/>
          </a:xfrm>
          <a:prstGeom prst="rect">
            <a:avLst/>
          </a:prstGeom>
          <a:solidFill>
            <a:srgbClr val="06D6A0"/>
          </a:solidFill>
          <a:ln/>
        </p:spPr>
      </p:sp>
      <p:sp>
        <p:nvSpPr>
          <p:cNvPr id="9" name="Text 6"/>
          <p:cNvSpPr/>
          <p:nvPr/>
        </p:nvSpPr>
        <p:spPr>
          <a:xfrm>
            <a:off x="1097280" y="36576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완료 문서 다운로드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1097280" y="4114800"/>
            <a:ext cx="2560320" cy="320040"/>
          </a:xfrm>
          <a:prstGeom prst="rect">
            <a:avLst/>
          </a:prstGeom>
          <a:solidFill>
            <a:srgbClr val="1C1C2E"/>
          </a:solidFill>
          <a:ln w="12700">
            <a:solidFill>
              <a:srgbClr val="06D6A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097280" y="4114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6D6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 보관함 이동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846320" y="1005840"/>
            <a:ext cx="3840480" cy="3840480"/>
          </a:xfrm>
          <a:prstGeom prst="rect">
            <a:avLst/>
          </a:prstGeom>
          <a:solidFill>
            <a:srgbClr val="1C1C2E"/>
          </a:solidFill>
          <a:ln w="25400">
            <a:solidFill>
              <a:srgbClr val="EF476F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280160"/>
            <a:ext cx="457200" cy="45720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46320" y="182880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F476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계약서 거절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5303520" y="2286000"/>
            <a:ext cx="31089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계약 조건 불일치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개인 사정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내용 수정 요청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○ 기타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760720" y="4389120"/>
            <a:ext cx="2011680" cy="320040"/>
          </a:xfrm>
          <a:prstGeom prst="rect">
            <a:avLst/>
          </a:prstGeom>
          <a:solidFill>
            <a:srgbClr val="EF476F"/>
          </a:solidFill>
          <a:ln/>
        </p:spPr>
      </p:sp>
      <p:sp>
        <p:nvSpPr>
          <p:cNvPr id="17" name="Text 13"/>
          <p:cNvSpPr/>
          <p:nvPr/>
        </p:nvSpPr>
        <p:spPr>
          <a:xfrm>
            <a:off x="5760720" y="438912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거절 확인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관리자 - 서명 현황 &amp; 문서 보관함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E6007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8229600" cy="1920240"/>
          </a:xfrm>
          <a:prstGeom prst="rect">
            <a:avLst/>
          </a:prstGeom>
          <a:solidFill>
            <a:srgbClr val="1C1C2E"/>
          </a:solidFill>
          <a:ln w="12700">
            <a:solidFill>
              <a:srgbClr val="2D2D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09728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서명 진행 현황 - 근로계약서_홍길동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731520" y="1508760"/>
            <a:ext cx="77724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① 홍길동 (근로자) - ⏳ 서명 대기 | 미열람</a:t>
            </a:r>
            <a:endParaRPr lang="en-US" sz="10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② 김대표 (사업주) - ⏸ 대기중 (순차서명)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감사로그: 10:00 생성 → 10:01 발송 → 10:05 수신확인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57200" y="3108960"/>
            <a:ext cx="8229600" cy="1828800"/>
          </a:xfrm>
          <a:prstGeom prst="rect">
            <a:avLst/>
          </a:prstGeom>
          <a:solidFill>
            <a:srgbClr val="1C1C2E"/>
          </a:solidFill>
          <a:ln w="12700">
            <a:solidFill>
              <a:srgbClr val="2D2D44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40080" y="3200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문서 보관함</a:t>
            </a:r>
            <a:endParaRPr lang="en-US" sz="12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3566160"/>
          <a:ext cx="7772400" cy="1188720"/>
        </p:xfrm>
        <a:graphic>
          <a:graphicData uri="http://schemas.openxmlformats.org/drawingml/2006/table">
            <a:tbl>
              <a:tblPr/>
              <a:tblGrid>
                <a:gridCol w="3200400"/>
                <a:gridCol w="1828800"/>
                <a:gridCol w="1371600"/>
                <a:gridCol w="1371600"/>
              </a:tblGrid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문서명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서명자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완료일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상태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근로계약_김철수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김철수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D99A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05-05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6D6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근로계약_박영수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박영수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D99A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05-03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6D6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근로계약_최미영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최미영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8D99AE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05-01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6D6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공통 UI &amp; 반응형 설계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E6007E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005840"/>
            <a:ext cx="2286000" cy="3840480"/>
          </a:xfrm>
          <a:prstGeom prst="rect">
            <a:avLst/>
          </a:prstGeom>
          <a:solidFill>
            <a:srgbClr val="1A1A2E"/>
          </a:solidFill>
          <a:ln/>
          <a:effectLst>
            <a:outerShdw sx="100000" sy="100000" kx="0" ky="0" algn="bl" rotWithShape="0" blurRad="76200" dist="25400" dir="8100000">
              <a:srgbClr val="000000">
                <a:alpha val="2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1097280"/>
            <a:ext cx="22860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6007E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U+웍스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16002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E6007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대시보드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20116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계약서 작성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48640" y="24231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진행중 문서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548640" y="28346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📁 문서 보관함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" y="32461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📄 템플릿 관리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48640" y="365760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 직원 관리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48640" y="40690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⚙️ 설정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017520" y="100584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상태 뱃지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200400" y="141732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🟡 서명대기  발송 후 미열람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200400" y="178308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🔵 열람중  열람했으나 미서명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200400" y="214884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🟢 서명완료  모든 서명 완료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200400" y="251460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🔴 거절  서명 거절됨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3200400" y="28803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⚫ 만료  기한 초과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6400800" y="100584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반응형 설계</a:t>
            </a:r>
            <a:endParaRPr lang="en-US" sz="1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1371600"/>
          <a:ext cx="2560320" cy="1005840"/>
        </p:xfrm>
        <a:graphic>
          <a:graphicData uri="http://schemas.openxmlformats.org/drawingml/2006/table">
            <a:tbl>
              <a:tblPr/>
              <a:tblGrid>
                <a:gridCol w="1097280"/>
                <a:gridCol w="1463040"/>
              </a:tblGrid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구분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해상도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4D8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Desktop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1280px+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Tablet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768~1279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  <a:tr h="2514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Mobile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~767px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</a:tbl>
          </a:graphicData>
        </a:graphic>
      </p:graphicFrame>
      <p:sp>
        <p:nvSpPr>
          <p:cNvPr id="21" name="Shape 18"/>
          <p:cNvSpPr/>
          <p:nvPr/>
        </p:nvSpPr>
        <p:spPr>
          <a:xfrm>
            <a:off x="3017520" y="3474720"/>
            <a:ext cx="5669280" cy="1280160"/>
          </a:xfrm>
          <a:prstGeom prst="rect">
            <a:avLst/>
          </a:prstGeom>
          <a:solidFill>
            <a:srgbClr val="1C1C2E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200400" y="3566160"/>
            <a:ext cx="53035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모바일 우선 설계 원칙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근로자 서명 화면 모바일 최적화 필수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터치 영역 최소 44x44px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서명 캔버스 가로 전체 너비 활용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모두싸인 벤치마킹 요약</a:t>
            </a:r>
            <a:endParaRPr lang="en-US" sz="2000" dirty="0"/>
          </a:p>
        </p:txBody>
      </p:sp>
      <p:sp>
        <p:nvSpPr>
          <p:cNvPr id="3" name="Shape 1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E6007E"/>
          </a:solidFill>
          <a:ln/>
        </p:spPr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3840480"/>
        </p:xfrm>
        <a:graphic>
          <a:graphicData uri="http://schemas.openxmlformats.org/drawingml/2006/table">
            <a:tbl>
              <a:tblPr/>
              <a:tblGrid>
                <a:gridCol w="5486400"/>
                <a:gridCol w="274320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모두싸인 기능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U+웍스 적용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드래그&amp;드롭 서명 위치 지정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서명자별 색상 구분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3가지 서명 방식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실시간 문서 미리보기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카카오/SMS/이메일 발송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순차/동시 서명 설정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감사 로그 (Audit Trail)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문서 보관함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템플릿 관리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6D6A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✅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대량 발송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D1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🔜 2차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 연동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FD16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🔜 2차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E6007E">
              <a:alpha val="1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315200" y="-914400"/>
            <a:ext cx="2743200" cy="2743200"/>
          </a:xfrm>
          <a:prstGeom prst="ellipse">
            <a:avLst/>
          </a:prstGeom>
          <a:solidFill>
            <a:srgbClr val="00B4D8">
              <a:alpha val="1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기술 스택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777240"/>
            <a:ext cx="1828800" cy="36576"/>
          </a:xfrm>
          <a:prstGeom prst="rect">
            <a:avLst/>
          </a:prstGeom>
          <a:solidFill>
            <a:srgbClr val="E6007E"/>
          </a:solidFill>
          <a:ln/>
        </p:spPr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371600" y="1097280"/>
          <a:ext cx="6400800" cy="3200400"/>
        </p:xfrm>
        <a:graphic>
          <a:graphicData uri="http://schemas.openxmlformats.org/drawingml/2006/table">
            <a:tbl>
              <a:tblPr/>
              <a:tblGrid>
                <a:gridCol w="2286000"/>
                <a:gridCol w="4114800"/>
              </a:tblGrid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영역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기술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6007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Frontend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React + TypeScript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UI Framework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Ant Design / MUI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서명 캔버스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signature_pad.js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PDF 렌더링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PDF.js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상태관리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Zustand / Redux Toolkit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API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REST API + WebSocket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0B4D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인증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OAuth 2.0 + SMS OTP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2D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1C2E"/>
                    </a:solidFill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1371600" y="457200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 근로자 서명은 모바일 웹 기반 (앱 설치 불필요)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743200" y="914400"/>
            <a:ext cx="3657600" cy="3657600"/>
          </a:xfrm>
          <a:prstGeom prst="ellipse">
            <a:avLst/>
          </a:prstGeom>
          <a:solidFill>
            <a:srgbClr val="E6007E">
              <a:alpha val="8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0" y="1188720"/>
            <a:ext cx="914400" cy="9144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2860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 You</a:t>
            </a:r>
            <a:endParaRPr lang="en-US" sz="3600" dirty="0"/>
          </a:p>
        </p:txBody>
      </p:sp>
      <p:sp>
        <p:nvSpPr>
          <p:cNvPr id="5" name="Shape 2"/>
          <p:cNvSpPr/>
          <p:nvPr/>
        </p:nvSpPr>
        <p:spPr>
          <a:xfrm>
            <a:off x="3474720" y="3108960"/>
            <a:ext cx="2194560" cy="36576"/>
          </a:xfrm>
          <a:prstGeom prst="rect">
            <a:avLst/>
          </a:prstGeom>
          <a:solidFill>
            <a:srgbClr val="E6007E"/>
          </a:solidFill>
          <a:ln/>
        </p:spPr>
      </p:sp>
      <p:sp>
        <p:nvSpPr>
          <p:cNvPr id="6" name="Text 3"/>
          <p:cNvSpPr/>
          <p:nvPr/>
        </p:nvSpPr>
        <p:spPr>
          <a:xfrm>
            <a:off x="45720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U+웍스 근로계약 전자서명 화면설계서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457200" y="39319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D99A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2026.05.06  |  v1.0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U+웍스 근로계약 전자서명 화면설계서</dc:title>
  <dc:subject>PptxGenJS Presentation</dc:subject>
  <dc:creator>U+웍스</dc:creator>
  <cp:lastModifiedBy>U+웍스</cp:lastModifiedBy>
  <cp:revision>1</cp:revision>
  <dcterms:created xsi:type="dcterms:W3CDTF">2026-05-06T04:41:27Z</dcterms:created>
  <dcterms:modified xsi:type="dcterms:W3CDTF">2026-05-06T04:41:27Z</dcterms:modified>
</cp:coreProperties>
</file>